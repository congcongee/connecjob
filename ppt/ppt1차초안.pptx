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커넥잡은 사용자의 경험을 입력받아 맞는 채용공고를 근거와 함께 추천하는 RAG 기반 취업 매칭 서비스입니다.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목표: 근거 있는 추천, 부족 역량 로드맵, 맞춤 자기소개서. 모두 RAG 구조 위에서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프로젝트라 모든 영역을 직접 수행했습니다. 팀 프로젝트로 바뀌면 담당 열만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 21일부터 11월 19일 발표일까지 30일 일정입니다. 데이터 구축, AI 기능, 웹 구현 순서로 진행하고, 각 단계가 끝날 때마다 해당 슬라이드를 함께 만듭니다. 회색 칸은 휴무일입니다.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버전과 라이브러리는 requirements.txt 기준으로 채우면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개발은 6단계입니다. 공고를 모으고 정제한 뒤 직무·기술을 분석하고, RAG 구조를 만들어 여러 검색 방식을 비교한 후 최종 방식을 웹 서비스에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단계에서 남은 공고 수를 채우고, 오른쪽에는 직무별 요구 기술 빈도 차트와 인사이트 세 가지를 넣습니다. 인사이트는 부족 역량 우선순위 계산의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RAG는 두 단계입니다. 인덱싱 단계에서 공고를 잘게 나눠 벡터DB에 한 번 저장하고, 요청이 오면 사용자 경험을 같은 모델로 임베딩해 비슷한 공고를 찾은 뒤 그 공고 원문을 근거로 LLM이 답을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점수식 가중치는 예시 구조입니다. 실제로 사용한 방식에 맞게 고치세요.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노란 줄이 최종 선정 방식입니다. 실험하지 않은 방식이 있으면 행을 지우세요.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미리 만들어 두는 부분, 가운데는 요청을 처리하는 Django 서버, 오른쪽은 사용자가 보는 화면입니다. RAG 체인이 벡터DB 검색과 LLM 호출을 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A는 공고 추천 흐름입니다. 서버가 벡터DB에서 공고를 찾고 LLM에 근거 설명을 요청한 뒤 화면에 카드로 보여 줍니다. B는 자소서 생성 흐름으로, 같은 구조에 출처 ID 규칙이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캡처는 실제 화면으로 바꾸고, 대괄호 안 예시도 시연 시나리오에 맞춰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 시연이 어려우면 녹화 영상을 재생합니다.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705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78161"/>
            <a:ext cx="10566400" cy="456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705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78161"/>
            <a:ext cx="10566400" cy="456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6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3000" y="609600"/>
            <a:ext cx="3556000" cy="355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7000" y="3302000"/>
            <a:ext cx="3302000" cy="2743200"/>
          </a:xfrm>
          <a:prstGeom prst="rect">
            <a:avLst/>
          </a:prstGeom>
          <a:solidFill>
            <a:srgbClr val="0F42C0"/>
          </a:solidFill>
          <a:ln/>
        </p:spPr>
      </p:sp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48800" y="4368800"/>
            <a:ext cx="1676400" cy="1676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609600"/>
            <a:ext cx="49707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RAG 기반 취업 매칭 AI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812800" y="965200"/>
            <a:ext cx="4826000" cy="12700"/>
          </a:xfrm>
          <a:prstGeom prst="rect">
            <a:avLst/>
          </a:prstGeom>
          <a:solidFill>
            <a:srgbClr val="5882E8"/>
          </a:solidFill>
          <a:ln/>
        </p:spPr>
      </p:sp>
      <p:sp>
        <p:nvSpPr>
          <p:cNvPr id="7" name="Text 3"/>
          <p:cNvSpPr/>
          <p:nvPr>
            <p:ph type="title"/>
          </p:nvPr>
        </p:nvSpPr>
        <p:spPr>
          <a:xfrm>
            <a:off x="812800" y="2794000"/>
            <a:ext cx="680212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0" i="0" dirty="0">
                <a:solidFill>
                  <a:srgbClr val="F5F4E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Connec</a:t>
            </a:r>
            <a:r>
              <a:rPr lang="en-US" sz="9000" b="0" i="0" dirty="0">
                <a:solidFill>
                  <a:srgbClr val="E3EF4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Job</a:t>
            </a:r>
            <a:endParaRPr lang="en-US" sz="9000" dirty="0"/>
          </a:p>
        </p:txBody>
      </p:sp>
      <p:sp>
        <p:nvSpPr>
          <p:cNvPr id="8" name="Text 4"/>
          <p:cNvSpPr/>
          <p:nvPr/>
        </p:nvSpPr>
        <p:spPr>
          <a:xfrm>
            <a:off x="812800" y="4495800"/>
            <a:ext cx="536321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경험을 공고에 연결하는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취업 매칭 서비스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12800" y="59995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박채원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336800" y="5999559"/>
            <a:ext cx="261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2026.11.19 발표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목차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408311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528961"/>
            <a:ext cx="8128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584821"/>
            <a:ext cx="34010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프로젝트 소개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84800" y="1655961"/>
            <a:ext cx="487918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목표 · 업무 분담 · 간트차트 · 개발 환경 · 전체 흐름도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152452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273102"/>
            <a:ext cx="8128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2328962"/>
            <a:ext cx="34010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수집 및 분석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84800" y="2400102"/>
            <a:ext cx="41964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수집 규모·출처 · 전처리 · 키워드·트렌드 인사이트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2896592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017242"/>
            <a:ext cx="8128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3073102"/>
            <a:ext cx="34010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개발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84800" y="3144242"/>
            <a:ext cx="43660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RAG 구조 · 특징 추출 · 모델별 파라미터 · 성능 비교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3640733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761383"/>
            <a:ext cx="8128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828800" y="3817243"/>
            <a:ext cx="34010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웹 서비스 구현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84800" y="3888383"/>
            <a:ext cx="483369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 구성도 · 시퀀스 다이어그램 · To-be 시나리오 · 시연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4384873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" y="5129014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505523"/>
            <a:ext cx="8128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828800" y="4561384"/>
            <a:ext cx="34010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프로젝트 결론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84800" y="4632523"/>
            <a:ext cx="37965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최종 결과·시사점 · 향후 연구 방향 · 참고문헌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프로젝트 소개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개발 목표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한 번 입력으로 공고 추천부터 지원 준비까지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701602"/>
            <a:ext cx="3420467" cy="3662958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720652"/>
            <a:ext cx="3420467" cy="0"/>
          </a:xfrm>
          <a:prstGeom prst="line">
            <a:avLst/>
          </a:prstGeom>
          <a:noFill/>
          <a:ln w="38100">
            <a:solidFill>
              <a:srgbClr val="1F06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1942902"/>
            <a:ext cx="310448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16000" y="2547342"/>
            <a:ext cx="31044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있는 공고 추천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92723"/>
            <a:ext cx="310448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경험과 공고를 임베딩해 유사 공고를 검색하고, 기업 규모·직무로 걸러 공고 원문 근거와 함께 제시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5667" y="1701602"/>
            <a:ext cx="3420566" cy="3662958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667" y="1720652"/>
            <a:ext cx="3420566" cy="0"/>
          </a:xfrm>
          <a:prstGeom prst="line">
            <a:avLst/>
          </a:prstGeom>
          <a:noFill/>
          <a:ln w="38100">
            <a:solidFill>
              <a:srgbClr val="0F4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8867" y="1942902"/>
            <a:ext cx="310459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0F42C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88867" y="2547342"/>
            <a:ext cx="31045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부족 역량·준비 로드맵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8867" y="2892723"/>
            <a:ext cx="310459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요구 기술과 내 역량을 비교해 부족 항목을 찾고, 요구 비율 순으로 준비 순서 제안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8634" y="1701602"/>
            <a:ext cx="3420566" cy="3662958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34" y="1720652"/>
            <a:ext cx="3420566" cy="0"/>
          </a:xfrm>
          <a:prstGeom prst="line">
            <a:avLst/>
          </a:prstGeom>
          <a:noFill/>
          <a:ln w="38100">
            <a:solidFill>
              <a:srgbClr val="588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1834" y="1942902"/>
            <a:ext cx="310459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5882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161834" y="2547342"/>
            <a:ext cx="31045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맞춤 자기소개서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61834" y="2892723"/>
            <a:ext cx="310459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문항별로 쓸 경험을 연결해 초안을 만들고, 문장마다 출처 경험 ID를 붙여 지어낸 내용 차단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593159"/>
            <a:ext cx="10566400" cy="502841"/>
          </a:xfrm>
          <a:prstGeom prst="rect">
            <a:avLst/>
          </a:prstGeom>
          <a:solidFill>
            <a:srgbClr val="E3EF4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720159"/>
            <a:ext cx="7271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기술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44774" y="5720159"/>
            <a:ext cx="476869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RAG(검색 증강 생성) · 임베딩 · 벡터DB · LLM · Django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프로젝트 소개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업무 분담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개인 프로젝트 — 기획부터 배포·발표까지 전 과정 수행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701602"/>
            <a:ext cx="10566400" cy="2328466"/>
          </a:xfrm>
          <a:prstGeom prst="rect">
            <a:avLst/>
          </a:prstGeom>
          <a:solidFill>
            <a:srgbClr val="FCFBF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14302"/>
          <a:ext cx="10553700" cy="2315766"/>
        </p:xfrm>
        <a:graphic>
          <a:graphicData uri="http://schemas.openxmlformats.org/drawingml/2006/table">
            <a:tbl>
              <a:tblPr/>
              <a:tblGrid>
                <a:gridCol w="1899666"/>
                <a:gridCol w="4221480"/>
                <a:gridCol w="1477518"/>
                <a:gridCol w="2955036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영역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06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담당 업무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06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담당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06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산출물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06A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기획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요구사항 정의 · 일정 수립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박채원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기획서 · 간트차트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0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공고 수집 · 정제 · 기술 태깅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박채원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정제 데이터셋 [__]건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AI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RAG 구축 · 추천 · 로드맵 · 자소서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박채원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RAG 파이프라인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웹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Django 연동 · 화면 · 배포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박채원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웹 서비스 [URL]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발표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PPT · 시연 영상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박채원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발표자료 · 시연 영상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10월 21일부터 11월 19일까지 작업별 일정 막대, 휴무일과 발표일 표시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812800" y="1270000"/>
            <a:ext cx="105664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064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프로젝트 소개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660400"/>
            <a:ext cx="181213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개발 일정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624931" y="749300"/>
            <a:ext cx="1909068" cy="325041"/>
          </a:xfrm>
          <a:prstGeom prst="rect">
            <a:avLst/>
          </a:prstGeom>
          <a:solidFill>
            <a:srgbClr val="E3EF4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10.21 — 11.19 · 30일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10000" y="1244600"/>
            <a:ext cx="196215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2026년 10월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04000" y="1244600"/>
            <a:ext cx="1320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1498600"/>
            <a:ext cx="1320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33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87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41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A09CB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95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49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03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7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11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5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A09CB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29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19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73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27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81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35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A09CB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289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A09CB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43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97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51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05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559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13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067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21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575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829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14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083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337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591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17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845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099800" y="1498600"/>
            <a:ext cx="304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16000" y="1778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기획·범위 확정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292600" y="1778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10/21–10/22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16000" y="1968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수집 (웹크롤링)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562600" y="1968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10/24–10/27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16000" y="2159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뼈대·기획 슬라이드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562600" y="2159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10/27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016000" y="2349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정리·정규화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816600" y="2349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10/28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016000" y="2540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직무 분류·기술 태깅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24600" y="2540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10/30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16000" y="2730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임베딩 변환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578600" y="2730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10/31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016000" y="2921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벡터DB 저장·검색 확인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7086600" y="2921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11/1–11/2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016000" y="3111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슬라이드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086600" y="3111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11/2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16000" y="3302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추천·필터링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102600" y="3302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11/5–11/6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016000" y="3492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이유 설명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356600" y="3492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11/7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1016000" y="3683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부족 역량·로드맵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8864600" y="3683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11/8–11/9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016000" y="3873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초안·첨삭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9372600" y="3873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11/10–11/11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016000" y="4064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성능 평가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9626600" y="40640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11/12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1016000" y="4254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기능 슬라이드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9626600" y="4254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11/12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1016000" y="4445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 구현 (장고)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356600" y="4445000"/>
            <a:ext cx="119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11/13–11/14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1016000" y="4635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기능 ↔ 웹 연결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10388600" y="46355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11/15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016000" y="4826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장고 배포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9118600" y="4826000"/>
            <a:ext cx="119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11/16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1016000" y="5016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테스트·버그 수정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9118600" y="5016500"/>
            <a:ext cx="119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11/16–11/17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016000" y="5207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웹·배포 슬라이드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9118600" y="5207000"/>
            <a:ext cx="119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11/16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016000" y="53975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완성·다듬기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9372600" y="5397500"/>
            <a:ext cx="119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11/17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016000" y="5588000"/>
            <a:ext cx="27470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최종 점검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9626600" y="5588000"/>
            <a:ext cx="119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11/18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812800" y="628144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14123A"/>
          </a:solidFill>
          <a:ln/>
        </p:spPr>
      </p:sp>
      <p:sp>
        <p:nvSpPr>
          <p:cNvPr id="82" name="Text 79"/>
          <p:cNvSpPr/>
          <p:nvPr/>
        </p:nvSpPr>
        <p:spPr>
          <a:xfrm>
            <a:off x="1003300" y="6238280"/>
            <a:ext cx="326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기획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1453059" y="628144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1F06AC"/>
          </a:solidFill>
          <a:ln/>
        </p:spPr>
      </p:sp>
      <p:sp>
        <p:nvSpPr>
          <p:cNvPr id="84" name="Text 81"/>
          <p:cNvSpPr/>
          <p:nvPr/>
        </p:nvSpPr>
        <p:spPr>
          <a:xfrm>
            <a:off x="1643559" y="6238280"/>
            <a:ext cx="489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85" name="Shape 82"/>
          <p:cNvSpPr/>
          <p:nvPr/>
        </p:nvSpPr>
        <p:spPr>
          <a:xfrm>
            <a:off x="2229247" y="628144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0F42C0"/>
          </a:solidFill>
          <a:ln/>
        </p:spPr>
      </p:sp>
      <p:sp>
        <p:nvSpPr>
          <p:cNvPr id="86" name="Text 83"/>
          <p:cNvSpPr/>
          <p:nvPr/>
        </p:nvSpPr>
        <p:spPr>
          <a:xfrm>
            <a:off x="2419747" y="6238280"/>
            <a:ext cx="5598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기능</a:t>
            </a:r>
            <a:endParaRPr lang="en-US" sz="1200" dirty="0"/>
          </a:p>
        </p:txBody>
      </p:sp>
      <p:sp>
        <p:nvSpPr>
          <p:cNvPr id="87" name="Shape 84"/>
          <p:cNvSpPr/>
          <p:nvPr/>
        </p:nvSpPr>
        <p:spPr>
          <a:xfrm>
            <a:off x="3064073" y="628144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5882E8"/>
          </a:solidFill>
          <a:ln/>
        </p:spPr>
      </p:sp>
      <p:sp>
        <p:nvSpPr>
          <p:cNvPr id="88" name="Text 85"/>
          <p:cNvSpPr/>
          <p:nvPr/>
        </p:nvSpPr>
        <p:spPr>
          <a:xfrm>
            <a:off x="3254573" y="6238280"/>
            <a:ext cx="1868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웹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3571577" y="6284615"/>
            <a:ext cx="120650" cy="120650"/>
          </a:xfrm>
          <a:prstGeom prst="roundRect">
            <a:avLst>
              <a:gd name="adj" fmla="val 18421"/>
            </a:avLst>
          </a:prstGeom>
          <a:solidFill>
            <a:srgbClr val="E3EF4F"/>
          </a:solidFill>
          <a:ln w="6350">
            <a:solidFill>
              <a:srgbClr val="1412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758902" y="6238280"/>
            <a:ext cx="326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PPT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4211836" y="6284615"/>
            <a:ext cx="120650" cy="120650"/>
          </a:xfrm>
          <a:prstGeom prst="roundRect">
            <a:avLst>
              <a:gd name="adj" fmla="val 18421"/>
            </a:avLst>
          </a:prstGeom>
          <a:solidFill>
            <a:srgbClr val="E6E4DC"/>
          </a:solidFill>
          <a:ln w="6350">
            <a:solidFill>
              <a:srgbClr val="CFCBBE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399161" y="6238280"/>
            <a:ext cx="489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휴무일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4991199" y="628779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EF5B8"/>
          </a:solidFill>
          <a:ln w="12700">
            <a:solidFill>
              <a:srgbClr val="14123A"/>
            </a:solidFill>
            <a:prstDash val="dash"/>
          </a:ln>
        </p:spPr>
      </p:sp>
      <p:sp>
        <p:nvSpPr>
          <p:cNvPr id="94" name="Text 91"/>
          <p:cNvSpPr/>
          <p:nvPr/>
        </p:nvSpPr>
        <p:spPr>
          <a:xfrm>
            <a:off x="5175349" y="6238280"/>
            <a:ext cx="11640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발표일 (11/19)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7978140" y="623828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토·일 포함 · 진행에 따라 변동 가능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프로젝트 소개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개발 환경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→ AI(RAG) → 웹, 세 계층을 Python 하나로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1707952"/>
            <a:ext cx="2514600" cy="4381698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5500" y="1714302"/>
            <a:ext cx="2501900" cy="452041"/>
          </a:xfrm>
          <a:prstGeom prst="rect">
            <a:avLst/>
          </a:prstGeom>
          <a:solidFill>
            <a:srgbClr val="14123A"/>
          </a:solidFill>
          <a:ln/>
        </p:spPr>
        <p:txBody>
          <a:bodyPr wrap="square" lIns="152400" tIns="101600" rIns="86487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언어·도구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782" y="2318742"/>
            <a:ext cx="2445131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Python [3.__]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Code · Jupyter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Git · GitHub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8850" y="1707952"/>
            <a:ext cx="2514600" cy="4381698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5200" y="1714302"/>
            <a:ext cx="2501900" cy="452041"/>
          </a:xfrm>
          <a:prstGeom prst="rect">
            <a:avLst/>
          </a:prstGeom>
          <a:solidFill>
            <a:srgbClr val="1F06AC"/>
          </a:solidFill>
          <a:ln/>
        </p:spPr>
        <p:txBody>
          <a:bodyPr wrap="square" lIns="152400" tIns="101600" rIns="86487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데이터·ML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5482" y="2318742"/>
            <a:ext cx="2445131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Pandas · NumPy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scikit-learn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[크롤링 라이브러리]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8550" y="1707952"/>
            <a:ext cx="2514600" cy="4381698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4900" y="1714302"/>
            <a:ext cx="2501900" cy="452041"/>
          </a:xfrm>
          <a:prstGeom prst="rect">
            <a:avLst/>
          </a:prstGeom>
          <a:solidFill>
            <a:srgbClr val="0F42C0"/>
          </a:solidFill>
          <a:ln/>
        </p:spPr>
        <p:txBody>
          <a:bodyPr wrap="square" lIns="152400" tIns="101600" rIns="86487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AI·RAG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55182" y="2318742"/>
            <a:ext cx="244513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[임베딩 모델]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[LLM API]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[FAISS / Chroma]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[LangChain 사용 시]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58250" y="1707952"/>
            <a:ext cx="2514600" cy="4381698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4600" y="1714302"/>
            <a:ext cx="2501900" cy="452041"/>
          </a:xfrm>
          <a:prstGeom prst="rect">
            <a:avLst/>
          </a:prstGeom>
          <a:solidFill>
            <a:srgbClr val="E3EF4F"/>
          </a:solidFill>
          <a:ln/>
        </p:spPr>
        <p:txBody>
          <a:bodyPr wrap="square" lIns="152400" tIns="101600" rIns="86487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웹·배포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34882" y="2318742"/>
            <a:ext cx="244513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Django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HTML · CSS · JS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</a:t>
            </a:r>
            <a:endParaRPr lang="en-US" sz="1400" dirty="0"/>
          </a:p>
          <a:p>
            <a:pPr algn="l" marL="182118" indent="-182118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[배포 환경]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프로젝트 소개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전체 개발 과정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수집 → 전처리 → 분석 → RAG 구축 → 검증·선정 → 웹 서비스 연결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1657152"/>
            <a:ext cx="1515467" cy="3914378"/>
          </a:xfrm>
          <a:prstGeom prst="roundRect">
            <a:avLst>
              <a:gd name="adj" fmla="val 4609"/>
            </a:avLst>
          </a:prstGeom>
          <a:noFill/>
          <a:ln w="12700">
            <a:solidFill>
              <a:srgbClr val="C9C5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20750" y="1758752"/>
            <a:ext cx="1312267" cy="566341"/>
          </a:xfrm>
          <a:prstGeom prst="roundRect">
            <a:avLst>
              <a:gd name="adj" fmla="val 784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6356" y="1828602"/>
            <a:ext cx="8210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채용공고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1700" y="2041922"/>
            <a:ext cx="1030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[출처] · [방식]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0750" y="2413992"/>
            <a:ext cx="1312267" cy="566341"/>
          </a:xfrm>
          <a:prstGeom prst="roundRect">
            <a:avLst>
              <a:gd name="adj" fmla="val 784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8023" y="2483842"/>
            <a:ext cx="8177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채용공고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1700" y="2697163"/>
            <a:ext cx="1030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[출처] · [기간]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0750" y="3069233"/>
            <a:ext cx="1312267" cy="779661"/>
          </a:xfrm>
          <a:prstGeom prst="roundRect">
            <a:avLst>
              <a:gd name="adj" fmla="val 5701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425" y="3139083"/>
            <a:ext cx="858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경험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7900" y="3352403"/>
            <a:ext cx="11979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프로젝트·기술·자격증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0750" y="3937794"/>
            <a:ext cx="1312267" cy="566341"/>
          </a:xfrm>
          <a:prstGeom prst="roundRect">
            <a:avLst>
              <a:gd name="adj" fmla="val 784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8993" y="4007644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기술 사전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2759" y="4220964"/>
            <a:ext cx="12282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표기 정규화 기준</a:t>
            </a:r>
            <a:endParaRPr lang="en-US" sz="1200" dirty="0"/>
          </a:p>
        </p:txBody>
      </p:sp>
      <p:pic>
        <p:nvPicPr>
          <p:cNvPr id="1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91767" y="3563541"/>
            <a:ext cx="177800" cy="1016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626717" y="1657152"/>
            <a:ext cx="1515566" cy="3914378"/>
          </a:xfrm>
          <a:prstGeom prst="roundRect">
            <a:avLst>
              <a:gd name="adj" fmla="val 4609"/>
            </a:avLst>
          </a:prstGeom>
          <a:noFill/>
          <a:ln w="12700">
            <a:solidFill>
              <a:srgbClr val="C9C5B8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2728317" y="1758752"/>
            <a:ext cx="1312366" cy="779661"/>
          </a:xfrm>
          <a:prstGeom prst="roundRect">
            <a:avLst>
              <a:gd name="adj" fmla="val 570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40692" y="1828602"/>
            <a:ext cx="10875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중복·마감 제거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85467" y="2041922"/>
            <a:ext cx="119806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결측·광고 문구 정리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28317" y="2627313"/>
            <a:ext cx="1312366" cy="779661"/>
          </a:xfrm>
          <a:prstGeom prst="roundRect">
            <a:avLst>
              <a:gd name="adj" fmla="val 570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36659" y="2697163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항목 통일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85467" y="2910483"/>
            <a:ext cx="119806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업무·자격·우대 구분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728317" y="3495873"/>
            <a:ext cx="1312366" cy="566341"/>
          </a:xfrm>
          <a:prstGeom prst="roundRect">
            <a:avLst>
              <a:gd name="adj" fmla="val 784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73435" y="3565723"/>
            <a:ext cx="1022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기술명 정규화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734667" y="3779044"/>
            <a:ext cx="12996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파이썬 → Python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28317" y="4151114"/>
            <a:ext cx="1312366" cy="566341"/>
          </a:xfrm>
          <a:prstGeom prst="roundRect">
            <a:avLst>
              <a:gd name="adj" fmla="val 7849"/>
            </a:avLst>
          </a:prstGeom>
          <a:solidFill>
            <a:srgbClr val="E3EF4F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36659" y="4220964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정제 공고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141563" y="4434284"/>
            <a:ext cx="485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[__]건</a:t>
            </a:r>
            <a:endParaRPr lang="en-US" sz="1200" dirty="0"/>
          </a:p>
        </p:txBody>
      </p:sp>
      <p:pic>
        <p:nvPicPr>
          <p:cNvPr id="3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99434" y="3563541"/>
            <a:ext cx="177800" cy="1016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4434384" y="1657152"/>
            <a:ext cx="1515467" cy="3914378"/>
          </a:xfrm>
          <a:prstGeom prst="roundRect">
            <a:avLst>
              <a:gd name="adj" fmla="val 4609"/>
            </a:avLst>
          </a:prstGeom>
          <a:noFill/>
          <a:ln w="12700">
            <a:solidFill>
              <a:srgbClr val="C9C5B8"/>
            </a:solidFill>
            <a:prstDash val="dash"/>
          </a:ln>
        </p:spPr>
      </p:sp>
      <p:sp>
        <p:nvSpPr>
          <p:cNvPr id="34" name="Shape 30"/>
          <p:cNvSpPr/>
          <p:nvPr/>
        </p:nvSpPr>
        <p:spPr>
          <a:xfrm>
            <a:off x="4535984" y="1758752"/>
            <a:ext cx="1312267" cy="566341"/>
          </a:xfrm>
          <a:prstGeom prst="roundRect">
            <a:avLst>
              <a:gd name="adj" fmla="val 784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44226" y="1828602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직무 분류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764455" y="2041922"/>
            <a:ext cx="8552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[__]개 직무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535984" y="2413992"/>
            <a:ext cx="1312267" cy="566341"/>
          </a:xfrm>
          <a:prstGeom prst="roundRect">
            <a:avLst>
              <a:gd name="adj" fmla="val 784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44226" y="2483842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기술 태깅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577993" y="2697163"/>
            <a:ext cx="12282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직무별 빈도 통계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4535984" y="3069233"/>
            <a:ext cx="1312267" cy="779661"/>
          </a:xfrm>
          <a:prstGeom prst="roundRect">
            <a:avLst>
              <a:gd name="adj" fmla="val 570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44226" y="3139083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군집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93134" y="3352403"/>
            <a:ext cx="11979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K-Means [k]개 유형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4535984" y="3937794"/>
            <a:ext cx="1312267" cy="566341"/>
          </a:xfrm>
          <a:prstGeom prst="roundRect">
            <a:avLst>
              <a:gd name="adj" fmla="val 784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681101" y="4007644"/>
            <a:ext cx="1022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키워드 트렌드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4570016" y="4220964"/>
            <a:ext cx="1244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요구 기술 Top-N</a:t>
            </a:r>
            <a:endParaRPr lang="en-US" sz="1200" dirty="0"/>
          </a:p>
        </p:txBody>
      </p:sp>
      <p:pic>
        <p:nvPicPr>
          <p:cNvPr id="46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07001" y="3563541"/>
            <a:ext cx="177800" cy="101600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6241951" y="1657152"/>
            <a:ext cx="1515566" cy="3914378"/>
          </a:xfrm>
          <a:prstGeom prst="roundRect">
            <a:avLst>
              <a:gd name="adj" fmla="val 4609"/>
            </a:avLst>
          </a:prstGeom>
          <a:noFill/>
          <a:ln w="12700">
            <a:solidFill>
              <a:srgbClr val="C9C5B8"/>
            </a:solidFill>
            <a:prstDash val="dash"/>
          </a:ln>
        </p:spPr>
      </p:sp>
      <p:sp>
        <p:nvSpPr>
          <p:cNvPr id="48" name="Shape 43"/>
          <p:cNvSpPr/>
          <p:nvPr/>
        </p:nvSpPr>
        <p:spPr>
          <a:xfrm>
            <a:off x="6337201" y="1752402"/>
            <a:ext cx="1325066" cy="579041"/>
          </a:xfrm>
          <a:prstGeom prst="roundRect">
            <a:avLst>
              <a:gd name="adj" fmla="val 8773"/>
            </a:avLst>
          </a:prstGeom>
          <a:solidFill>
            <a:srgbClr val="14123A"/>
          </a:solidFill>
          <a:ln/>
        </p:spPr>
      </p:sp>
      <p:sp>
        <p:nvSpPr>
          <p:cNvPr id="49" name="Text 44"/>
          <p:cNvSpPr/>
          <p:nvPr/>
        </p:nvSpPr>
        <p:spPr>
          <a:xfrm>
            <a:off x="6836559" y="1828602"/>
            <a:ext cx="326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청킹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6490563" y="2041922"/>
            <a:ext cx="10183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[__]토큰 단위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6337201" y="2407642"/>
            <a:ext cx="1325066" cy="579041"/>
          </a:xfrm>
          <a:prstGeom prst="roundRect">
            <a:avLst>
              <a:gd name="adj" fmla="val 8773"/>
            </a:avLst>
          </a:prstGeom>
          <a:solidFill>
            <a:srgbClr val="14123A"/>
          </a:solidFill>
          <a:ln/>
        </p:spPr>
      </p:sp>
      <p:sp>
        <p:nvSpPr>
          <p:cNvPr id="52" name="Text 47"/>
          <p:cNvSpPr/>
          <p:nvPr/>
        </p:nvSpPr>
        <p:spPr>
          <a:xfrm>
            <a:off x="6755001" y="2483842"/>
            <a:ext cx="489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임베딩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6512352" y="2697163"/>
            <a:ext cx="9747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[임베딩 모델]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6337201" y="3062883"/>
            <a:ext cx="1325066" cy="579041"/>
          </a:xfrm>
          <a:prstGeom prst="roundRect">
            <a:avLst>
              <a:gd name="adj" fmla="val 8773"/>
            </a:avLst>
          </a:prstGeom>
          <a:solidFill>
            <a:srgbClr val="14123A"/>
          </a:solidFill>
          <a:ln/>
        </p:spPr>
      </p:sp>
      <p:sp>
        <p:nvSpPr>
          <p:cNvPr id="55" name="Text 50"/>
          <p:cNvSpPr/>
          <p:nvPr/>
        </p:nvSpPr>
        <p:spPr>
          <a:xfrm>
            <a:off x="6711791" y="3139083"/>
            <a:ext cx="575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벡터DB</a:t>
            </a:r>
            <a:endParaRPr lang="en-US" sz="1200" dirty="0"/>
          </a:p>
        </p:txBody>
      </p:sp>
      <p:sp>
        <p:nvSpPr>
          <p:cNvPr id="56" name="Text 51"/>
          <p:cNvSpPr/>
          <p:nvPr/>
        </p:nvSpPr>
        <p:spPr>
          <a:xfrm>
            <a:off x="6342578" y="3352403"/>
            <a:ext cx="1314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[FAISS·Chroma]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6337201" y="3718123"/>
            <a:ext cx="1325066" cy="579041"/>
          </a:xfrm>
          <a:prstGeom prst="roundRect">
            <a:avLst>
              <a:gd name="adj" fmla="val 8773"/>
            </a:avLst>
          </a:prstGeom>
          <a:solidFill>
            <a:srgbClr val="14123A"/>
          </a:solidFill>
          <a:ln/>
        </p:spPr>
      </p:sp>
      <p:sp>
        <p:nvSpPr>
          <p:cNvPr id="58" name="Text 53"/>
          <p:cNvSpPr/>
          <p:nvPr/>
        </p:nvSpPr>
        <p:spPr>
          <a:xfrm>
            <a:off x="6643201" y="3794323"/>
            <a:ext cx="7130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 생성</a:t>
            </a:r>
            <a:endParaRPr lang="en-US" sz="1200" dirty="0"/>
          </a:p>
        </p:txBody>
      </p:sp>
      <p:sp>
        <p:nvSpPr>
          <p:cNvPr id="59" name="Text 54"/>
          <p:cNvSpPr/>
          <p:nvPr/>
        </p:nvSpPr>
        <p:spPr>
          <a:xfrm>
            <a:off x="6591171" y="4007644"/>
            <a:ext cx="817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[LLM 모델]</a:t>
            </a:r>
            <a:endParaRPr lang="en-US" sz="1200" dirty="0"/>
          </a:p>
        </p:txBody>
      </p:sp>
      <p:pic>
        <p:nvPicPr>
          <p:cNvPr id="6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14667" y="3563541"/>
            <a:ext cx="177800" cy="101600"/>
          </a:xfrm>
          <a:prstGeom prst="rect">
            <a:avLst/>
          </a:prstGeom>
        </p:spPr>
      </p:pic>
      <p:sp>
        <p:nvSpPr>
          <p:cNvPr id="61" name="Shape 55"/>
          <p:cNvSpPr/>
          <p:nvPr/>
        </p:nvSpPr>
        <p:spPr>
          <a:xfrm>
            <a:off x="8049617" y="1657152"/>
            <a:ext cx="1515566" cy="3914378"/>
          </a:xfrm>
          <a:prstGeom prst="roundRect">
            <a:avLst>
              <a:gd name="adj" fmla="val 4609"/>
            </a:avLst>
          </a:prstGeom>
          <a:noFill/>
          <a:ln w="12700">
            <a:solidFill>
              <a:srgbClr val="C9C5B8"/>
            </a:solidFill>
            <a:prstDash val="dash"/>
          </a:ln>
        </p:spPr>
      </p:sp>
      <p:sp>
        <p:nvSpPr>
          <p:cNvPr id="62" name="Text 56"/>
          <p:cNvSpPr/>
          <p:nvPr/>
        </p:nvSpPr>
        <p:spPr>
          <a:xfrm>
            <a:off x="8119467" y="1752402"/>
            <a:ext cx="1375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샘플 프로필 평가</a:t>
            </a:r>
            <a:endParaRPr lang="en-US" sz="1200" dirty="0"/>
          </a:p>
        </p:txBody>
      </p:sp>
      <p:sp>
        <p:nvSpPr>
          <p:cNvPr id="63" name="Shape 57"/>
          <p:cNvSpPr/>
          <p:nvPr/>
        </p:nvSpPr>
        <p:spPr>
          <a:xfrm>
            <a:off x="8144867" y="2041922"/>
            <a:ext cx="1325066" cy="553641"/>
          </a:xfrm>
          <a:prstGeom prst="roundRect">
            <a:avLst>
              <a:gd name="adj" fmla="val 9176"/>
            </a:avLst>
          </a:prstGeom>
          <a:solidFill>
            <a:srgbClr val="14123A"/>
          </a:solidFill>
          <a:ln/>
        </p:spPr>
      </p:sp>
      <p:sp>
        <p:nvSpPr>
          <p:cNvPr id="64" name="Text 58"/>
          <p:cNvSpPr/>
          <p:nvPr/>
        </p:nvSpPr>
        <p:spPr>
          <a:xfrm>
            <a:off x="8561725" y="2105422"/>
            <a:ext cx="4912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BM25</a:t>
            </a:r>
            <a:endParaRPr lang="en-US" sz="1200" dirty="0"/>
          </a:p>
        </p:txBody>
      </p:sp>
      <p:sp>
        <p:nvSpPr>
          <p:cNvPr id="65" name="Text 59"/>
          <p:cNvSpPr/>
          <p:nvPr/>
        </p:nvSpPr>
        <p:spPr>
          <a:xfrm>
            <a:off x="8377892" y="2318742"/>
            <a:ext cx="858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키워드 검색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8144867" y="2671763"/>
            <a:ext cx="1325066" cy="553641"/>
          </a:xfrm>
          <a:prstGeom prst="roundRect">
            <a:avLst>
              <a:gd name="adj" fmla="val 9176"/>
            </a:avLst>
          </a:prstGeom>
          <a:solidFill>
            <a:srgbClr val="14123A"/>
          </a:solidFill>
          <a:ln/>
        </p:spPr>
      </p:sp>
      <p:sp>
        <p:nvSpPr>
          <p:cNvPr id="67" name="Text 61"/>
          <p:cNvSpPr/>
          <p:nvPr/>
        </p:nvSpPr>
        <p:spPr>
          <a:xfrm>
            <a:off x="8540284" y="2735263"/>
            <a:ext cx="534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Dense</a:t>
            </a:r>
            <a:endParaRPr lang="en-US" sz="1200" dirty="0"/>
          </a:p>
        </p:txBody>
      </p:sp>
      <p:sp>
        <p:nvSpPr>
          <p:cNvPr id="68" name="Text 62"/>
          <p:cNvSpPr/>
          <p:nvPr/>
        </p:nvSpPr>
        <p:spPr>
          <a:xfrm>
            <a:off x="8377892" y="2948583"/>
            <a:ext cx="858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임베딩 검색</a:t>
            </a:r>
            <a:endParaRPr lang="en-US" sz="1200" dirty="0"/>
          </a:p>
        </p:txBody>
      </p:sp>
      <p:sp>
        <p:nvSpPr>
          <p:cNvPr id="69" name="Shape 63"/>
          <p:cNvSpPr/>
          <p:nvPr/>
        </p:nvSpPr>
        <p:spPr>
          <a:xfrm>
            <a:off x="8144867" y="3301603"/>
            <a:ext cx="1325066" cy="553641"/>
          </a:xfrm>
          <a:prstGeom prst="roundRect">
            <a:avLst>
              <a:gd name="adj" fmla="val 9176"/>
            </a:avLst>
          </a:prstGeom>
          <a:solidFill>
            <a:srgbClr val="14123A"/>
          </a:solidFill>
          <a:ln/>
        </p:spPr>
      </p:sp>
      <p:sp>
        <p:nvSpPr>
          <p:cNvPr id="70" name="Text 64"/>
          <p:cNvSpPr/>
          <p:nvPr/>
        </p:nvSpPr>
        <p:spPr>
          <a:xfrm>
            <a:off x="8279070" y="3365103"/>
            <a:ext cx="10565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Dense + 필터</a:t>
            </a:r>
            <a:endParaRPr lang="en-US" sz="1200" dirty="0"/>
          </a:p>
        </p:txBody>
      </p:sp>
      <p:sp>
        <p:nvSpPr>
          <p:cNvPr id="71" name="Text 65"/>
          <p:cNvSpPr/>
          <p:nvPr/>
        </p:nvSpPr>
        <p:spPr>
          <a:xfrm>
            <a:off x="8266569" y="3578423"/>
            <a:ext cx="1081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규모·직무 조건</a:t>
            </a:r>
            <a:endParaRPr lang="en-US" sz="1200" dirty="0"/>
          </a:p>
        </p:txBody>
      </p:sp>
      <p:sp>
        <p:nvSpPr>
          <p:cNvPr id="72" name="Shape 66"/>
          <p:cNvSpPr/>
          <p:nvPr/>
        </p:nvSpPr>
        <p:spPr>
          <a:xfrm>
            <a:off x="8154392" y="3940969"/>
            <a:ext cx="1306016" cy="572691"/>
          </a:xfrm>
          <a:prstGeom prst="roundRect">
            <a:avLst>
              <a:gd name="adj" fmla="val 7207"/>
            </a:avLst>
          </a:prstGeom>
          <a:solidFill>
            <a:srgbClr val="FCFBF8"/>
          </a:solidFill>
          <a:ln w="19050">
            <a:solidFill>
              <a:srgbClr val="1F06AC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8398480" y="4013994"/>
            <a:ext cx="8178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[최종 선정]</a:t>
            </a:r>
            <a:endParaRPr lang="en-US" sz="1200" dirty="0"/>
          </a:p>
        </p:txBody>
      </p:sp>
      <p:sp>
        <p:nvSpPr>
          <p:cNvPr id="74" name="Text 68"/>
          <p:cNvSpPr/>
          <p:nvPr/>
        </p:nvSpPr>
        <p:spPr>
          <a:xfrm>
            <a:off x="8348841" y="4227314"/>
            <a:ext cx="9170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P@5 [__]%</a:t>
            </a:r>
            <a:endParaRPr lang="en-US" sz="1200" dirty="0"/>
          </a:p>
        </p:txBody>
      </p:sp>
      <p:pic>
        <p:nvPicPr>
          <p:cNvPr id="7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22334" y="3563541"/>
            <a:ext cx="177800" cy="101600"/>
          </a:xfrm>
          <a:prstGeom prst="rect">
            <a:avLst/>
          </a:prstGeom>
        </p:spPr>
      </p:pic>
      <p:sp>
        <p:nvSpPr>
          <p:cNvPr id="76" name="Shape 69"/>
          <p:cNvSpPr/>
          <p:nvPr/>
        </p:nvSpPr>
        <p:spPr>
          <a:xfrm>
            <a:off x="9857284" y="1657152"/>
            <a:ext cx="1515566" cy="3914378"/>
          </a:xfrm>
          <a:prstGeom prst="roundRect">
            <a:avLst>
              <a:gd name="adj" fmla="val 4609"/>
            </a:avLst>
          </a:prstGeom>
          <a:noFill/>
          <a:ln w="12700">
            <a:solidFill>
              <a:srgbClr val="1F06AC"/>
            </a:solidFill>
            <a:prstDash val="dash"/>
          </a:ln>
        </p:spPr>
      </p:sp>
      <p:sp>
        <p:nvSpPr>
          <p:cNvPr id="77" name="Text 70"/>
          <p:cNvSpPr/>
          <p:nvPr/>
        </p:nvSpPr>
        <p:spPr>
          <a:xfrm>
            <a:off x="9952534" y="1752402"/>
            <a:ext cx="1375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M1 · 공고 추천</a:t>
            </a:r>
            <a:endParaRPr lang="en-US" sz="1200" dirty="0"/>
          </a:p>
        </p:txBody>
      </p:sp>
      <p:sp>
        <p:nvSpPr>
          <p:cNvPr id="78" name="Shape 71"/>
          <p:cNvSpPr/>
          <p:nvPr/>
        </p:nvSpPr>
        <p:spPr>
          <a:xfrm>
            <a:off x="9958884" y="2048272"/>
            <a:ext cx="1312366" cy="566341"/>
          </a:xfrm>
          <a:prstGeom prst="roundRect">
            <a:avLst>
              <a:gd name="adj" fmla="val 784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10190678" y="2118122"/>
            <a:ext cx="8486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+ 근거</a:t>
            </a:r>
            <a:endParaRPr lang="en-US" sz="1200" dirty="0"/>
          </a:p>
        </p:txBody>
      </p:sp>
      <p:sp>
        <p:nvSpPr>
          <p:cNvPr id="80" name="Text 73"/>
          <p:cNvSpPr/>
          <p:nvPr/>
        </p:nvSpPr>
        <p:spPr>
          <a:xfrm>
            <a:off x="10185559" y="2331442"/>
            <a:ext cx="858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로드맵 연동</a:t>
            </a:r>
            <a:endParaRPr lang="en-US" sz="1200" dirty="0"/>
          </a:p>
        </p:txBody>
      </p:sp>
      <p:sp>
        <p:nvSpPr>
          <p:cNvPr id="81" name="Text 74"/>
          <p:cNvSpPr/>
          <p:nvPr/>
        </p:nvSpPr>
        <p:spPr>
          <a:xfrm>
            <a:off x="9952534" y="2697163"/>
            <a:ext cx="1375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M2 · 자소서</a:t>
            </a:r>
            <a:endParaRPr lang="en-US" sz="1200" dirty="0"/>
          </a:p>
        </p:txBody>
      </p:sp>
      <p:sp>
        <p:nvSpPr>
          <p:cNvPr id="82" name="Shape 75"/>
          <p:cNvSpPr/>
          <p:nvPr/>
        </p:nvSpPr>
        <p:spPr>
          <a:xfrm>
            <a:off x="9958884" y="2993033"/>
            <a:ext cx="1312366" cy="566341"/>
          </a:xfrm>
          <a:prstGeom prst="roundRect">
            <a:avLst>
              <a:gd name="adj" fmla="val 784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10190678" y="3062883"/>
            <a:ext cx="8486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초안 + 첨삭</a:t>
            </a:r>
            <a:endParaRPr lang="en-US" sz="1200" dirty="0"/>
          </a:p>
        </p:txBody>
      </p:sp>
      <p:sp>
        <p:nvSpPr>
          <p:cNvPr id="84" name="Text 77"/>
          <p:cNvSpPr/>
          <p:nvPr/>
        </p:nvSpPr>
        <p:spPr>
          <a:xfrm>
            <a:off x="9999573" y="3276203"/>
            <a:ext cx="12309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일치 [__]%</a:t>
            </a:r>
            <a:endParaRPr lang="en-US" sz="1200" dirty="0"/>
          </a:p>
        </p:txBody>
      </p:sp>
      <p:sp>
        <p:nvSpPr>
          <p:cNvPr id="85" name="Shape 78"/>
          <p:cNvSpPr/>
          <p:nvPr/>
        </p:nvSpPr>
        <p:spPr>
          <a:xfrm>
            <a:off x="9952534" y="3641923"/>
            <a:ext cx="1325066" cy="1834356"/>
          </a:xfrm>
          <a:prstGeom prst="roundRect">
            <a:avLst>
              <a:gd name="adj" fmla="val 3834"/>
            </a:avLst>
          </a:prstGeom>
          <a:solidFill>
            <a:srgbClr val="1F06AC"/>
          </a:solidFill>
          <a:ln/>
        </p:spPr>
      </p:sp>
      <p:sp>
        <p:nvSpPr>
          <p:cNvPr id="86" name="Text 79"/>
          <p:cNvSpPr/>
          <p:nvPr/>
        </p:nvSpPr>
        <p:spPr>
          <a:xfrm>
            <a:off x="10209242" y="4328021"/>
            <a:ext cx="8116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웹 서비스</a:t>
            </a:r>
            <a:endParaRPr lang="en-US" sz="1400" dirty="0"/>
          </a:p>
        </p:txBody>
      </p:sp>
      <p:sp>
        <p:nvSpPr>
          <p:cNvPr id="87" name="Text 80"/>
          <p:cNvSpPr/>
          <p:nvPr/>
        </p:nvSpPr>
        <p:spPr>
          <a:xfrm>
            <a:off x="10331053" y="4576862"/>
            <a:ext cx="5679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Django</a:t>
            </a:r>
            <a:endParaRPr lang="en-US" sz="1200" dirty="0"/>
          </a:p>
        </p:txBody>
      </p:sp>
      <p:sp>
        <p:nvSpPr>
          <p:cNvPr id="88" name="Text 81"/>
          <p:cNvSpPr/>
          <p:nvPr/>
        </p:nvSpPr>
        <p:spPr>
          <a:xfrm>
            <a:off x="819150" y="5762030"/>
            <a:ext cx="1515467" cy="327620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  <p:txBody>
          <a:bodyPr wrap="square" lIns="31750" tIns="57150" rIns="31750" bIns="317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데이터 수집</a:t>
            </a:r>
            <a:endParaRPr lang="en-US" sz="1200" dirty="0"/>
          </a:p>
        </p:txBody>
      </p:sp>
      <p:sp>
        <p:nvSpPr>
          <p:cNvPr id="89" name="Text 82"/>
          <p:cNvSpPr/>
          <p:nvPr/>
        </p:nvSpPr>
        <p:spPr>
          <a:xfrm>
            <a:off x="2626717" y="5762030"/>
            <a:ext cx="1515566" cy="327620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  <p:txBody>
          <a:bodyPr wrap="square" lIns="31750" tIns="57150" rIns="31750" bIns="317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전처리</a:t>
            </a:r>
            <a:endParaRPr lang="en-US" sz="1200" dirty="0"/>
          </a:p>
        </p:txBody>
      </p:sp>
      <p:sp>
        <p:nvSpPr>
          <p:cNvPr id="90" name="Text 83"/>
          <p:cNvSpPr/>
          <p:nvPr/>
        </p:nvSpPr>
        <p:spPr>
          <a:xfrm>
            <a:off x="4434384" y="5762030"/>
            <a:ext cx="1515467" cy="327620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  <p:txBody>
          <a:bodyPr wrap="square" lIns="31750" tIns="57150" rIns="31750" bIns="317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데이터 분석</a:t>
            </a:r>
            <a:endParaRPr lang="en-US" sz="1200" dirty="0"/>
          </a:p>
        </p:txBody>
      </p:sp>
      <p:sp>
        <p:nvSpPr>
          <p:cNvPr id="91" name="Text 84"/>
          <p:cNvSpPr/>
          <p:nvPr/>
        </p:nvSpPr>
        <p:spPr>
          <a:xfrm>
            <a:off x="6241951" y="5762030"/>
            <a:ext cx="1515566" cy="327620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  <p:txBody>
          <a:bodyPr wrap="square" lIns="31750" tIns="57150" rIns="31750" bIns="317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RAG 구축</a:t>
            </a:r>
            <a:endParaRPr lang="en-US" sz="1200" dirty="0"/>
          </a:p>
        </p:txBody>
      </p:sp>
      <p:sp>
        <p:nvSpPr>
          <p:cNvPr id="92" name="Text 85"/>
          <p:cNvSpPr/>
          <p:nvPr/>
        </p:nvSpPr>
        <p:spPr>
          <a:xfrm>
            <a:off x="8049617" y="5762030"/>
            <a:ext cx="1515566" cy="327620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  <p:txBody>
          <a:bodyPr wrap="square" lIns="31750" tIns="57150" rIns="31750" bIns="317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검증·선정</a:t>
            </a:r>
            <a:endParaRPr lang="en-US" sz="1200" dirty="0"/>
          </a:p>
        </p:txBody>
      </p:sp>
      <p:sp>
        <p:nvSpPr>
          <p:cNvPr id="93" name="Text 86"/>
          <p:cNvSpPr/>
          <p:nvPr/>
        </p:nvSpPr>
        <p:spPr>
          <a:xfrm>
            <a:off x="9857284" y="5762030"/>
            <a:ext cx="1515566" cy="327620"/>
          </a:xfrm>
          <a:prstGeom prst="rect">
            <a:avLst/>
          </a:prstGeom>
          <a:solidFill>
            <a:srgbClr val="1F06AC"/>
          </a:solidFill>
          <a:ln w="12700">
            <a:solidFill>
              <a:srgbClr val="1F06AC"/>
            </a:solidFill>
            <a:prstDash val="solid"/>
          </a:ln>
        </p:spPr>
        <p:txBody>
          <a:bodyPr wrap="square" lIns="31750" tIns="57150" rIns="31750" bIns="317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서비스 연결</a:t>
            </a:r>
            <a:endParaRPr lang="en-US" sz="1200" dirty="0"/>
          </a:p>
        </p:txBody>
      </p:sp>
      <p:sp>
        <p:nvSpPr>
          <p:cNvPr id="94" name="Text 87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</a:t>
            </a:r>
            <a:endParaRPr lang="en-US" sz="1200" dirty="0"/>
          </a:p>
        </p:txBody>
      </p:sp>
      <p:sp>
        <p:nvSpPr>
          <p:cNvPr id="95" name="Text 88"/>
          <p:cNvSpPr/>
          <p:nvPr/>
        </p:nvSpPr>
        <p:spPr>
          <a:xfrm>
            <a:off x="5492750" y="63398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[노트북 · 소스 파일명]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데이터 수집 및 분석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데이터 수집 규모와 출처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대기업·중견·외국계 채용공고와 사용자 경험 샘플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701602"/>
            <a:ext cx="2508250" cy="1122561"/>
          </a:xfrm>
          <a:prstGeom prst="rect">
            <a:avLst/>
          </a:prstGeom>
          <a:solidFill>
            <a:srgbClr val="1F06A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879402"/>
            <a:ext cx="216490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E3EF4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6000" y="2407642"/>
            <a:ext cx="21649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수집 공고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9800" y="1707952"/>
            <a:ext cx="2520950" cy="11098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9350" y="1892102"/>
            <a:ext cx="216490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[__]개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89350" y="2420342"/>
            <a:ext cx="21649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5850" y="1707952"/>
            <a:ext cx="2520950" cy="11098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5400" y="1892102"/>
            <a:ext cx="216490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[__]개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75400" y="2420342"/>
            <a:ext cx="21649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직무 카테고리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1900" y="1707952"/>
            <a:ext cx="2520950" cy="11098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450" y="1892102"/>
            <a:ext cx="216490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[__]개월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61450" y="2420342"/>
            <a:ext cx="21649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수집 기간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3052763"/>
            <a:ext cx="10566400" cy="1809055"/>
          </a:xfrm>
          <a:prstGeom prst="rect">
            <a:avLst/>
          </a:prstGeom>
          <a:solidFill>
            <a:srgbClr val="FCFBF8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065463"/>
          <a:ext cx="10553700" cy="1796355"/>
        </p:xfrm>
        <a:graphic>
          <a:graphicData uri="http://schemas.openxmlformats.org/drawingml/2006/table">
            <a:tbl>
              <a:tblPr/>
              <a:tblGrid>
                <a:gridCol w="2321814"/>
                <a:gridCol w="1899666"/>
                <a:gridCol w="4643628"/>
                <a:gridCol w="168859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출처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수집 방식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주요 항목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규모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[채용 사이트 A]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[크롤링 / API]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기업명·규모·직무·자격요건·우대사항·마감일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[채용 사이트 B]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[크롤링 / API]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담당업무·근무지·자소서 문항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사용자 경험 샘플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직접 작성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프로젝트·기술 스택·자격증·관심 직무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[__]명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기술 정규화 사전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직접 구축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기술명 표준 표기 (예: 파이썬 → Python)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[__]개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92750" y="63398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수집 기준일: [YYYY.MM.DD] · 이용약관 확인 범위 내 수집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데이터 수집 및 분석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전처리와 도출된 인사이트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정제한 공고에서 직무별 요구 기술 빈도와 트렌드를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1701602"/>
            <a:ext cx="431673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전처리 과정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021582"/>
            <a:ext cx="4064000" cy="452041"/>
          </a:xfrm>
          <a:prstGeom prst="rect">
            <a:avLst/>
          </a:prstGeom>
          <a:solidFill>
            <a:srgbClr val="14123A"/>
          </a:solidFill>
          <a:ln/>
        </p:spPr>
        <p:txBody>
          <a:bodyPr wrap="square" lIns="152400" tIns="101600" rIns="3962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원본 공고 [__]건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549823"/>
            <a:ext cx="3683000" cy="452041"/>
          </a:xfrm>
          <a:prstGeom prst="rect">
            <a:avLst/>
          </a:prstGeom>
          <a:solidFill>
            <a:srgbClr val="1F06AC"/>
          </a:solidFill>
          <a:ln/>
        </p:spPr>
        <p:txBody>
          <a:bodyPr wrap="square" lIns="152400" tIns="101600" rIns="5105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중복 제거 → [__]건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078063"/>
            <a:ext cx="3302000" cy="452041"/>
          </a:xfrm>
          <a:prstGeom prst="rect">
            <a:avLst/>
          </a:prstGeom>
          <a:solidFill>
            <a:srgbClr val="0F42C0"/>
          </a:solidFill>
          <a:ln/>
        </p:spPr>
        <p:txBody>
          <a:bodyPr wrap="square" lIns="152400" tIns="101600" rIns="6248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마감 공고 제외 → [__]건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606304"/>
            <a:ext cx="2921000" cy="452041"/>
          </a:xfrm>
          <a:prstGeom prst="rect">
            <a:avLst/>
          </a:prstGeom>
          <a:solidFill>
            <a:srgbClr val="5882E8"/>
          </a:solidFill>
          <a:ln/>
        </p:spPr>
        <p:txBody>
          <a:bodyPr wrap="square" lIns="152400" tIns="101600" rIns="7391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결측·노이즈 정리 → [__]건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134545"/>
            <a:ext cx="2540000" cy="452041"/>
          </a:xfrm>
          <a:prstGeom prst="rect">
            <a:avLst/>
          </a:prstGeom>
          <a:solidFill>
            <a:srgbClr val="E3EF4F"/>
          </a:solidFill>
          <a:ln/>
        </p:spPr>
        <p:txBody>
          <a:bodyPr wrap="square" lIns="152400" tIns="101600" rIns="8534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최종 [__]건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662785"/>
            <a:ext cx="43167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 항목명 통일 · 기술명 정규화 · 담당업무/자격요건/우대사항 분리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14950" y="1707952"/>
            <a:ext cx="6057900" cy="3063677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1655956" tIns="6350" rIns="1655956" bIns="635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[차트] 직무별 요구 기술 Top 10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(시기별 추이가 있으면 시계열 그래프)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8600" y="4885928"/>
            <a:ext cx="60706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8600" y="4968478"/>
            <a:ext cx="218480" cy="238720"/>
          </a:xfrm>
          <a:prstGeom prst="rect">
            <a:avLst/>
          </a:prstGeom>
          <a:solidFill>
            <a:srgbClr val="E3EF4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8680" y="4968478"/>
            <a:ext cx="360092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[예: 백엔드 공고의 [__]%가 Docker 요구]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8600" y="5325269"/>
            <a:ext cx="60706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8600" y="5407819"/>
            <a:ext cx="218480" cy="238720"/>
          </a:xfrm>
          <a:prstGeom prst="rect">
            <a:avLst/>
          </a:prstGeom>
          <a:solidFill>
            <a:srgbClr val="E3EF4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8680" y="5407819"/>
            <a:ext cx="32999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[예: 외국계는 영어 요건이 [__]배 많음]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8600" y="5764609"/>
            <a:ext cx="60706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8600" y="5847159"/>
            <a:ext cx="218480" cy="238720"/>
          </a:xfrm>
          <a:prstGeom prst="rect">
            <a:avLst/>
          </a:prstGeom>
          <a:solidFill>
            <a:srgbClr val="E3EF4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8680" y="5847159"/>
            <a:ext cx="29510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[예: 최근 [__]개월 AI 키워드 증가]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모델 개발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RAG 구조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공고를 미리 벡터로 저장해 두고, 요청마다 찾아온 공고를 근거로 LLM이 답변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1682552"/>
            <a:ext cx="1473200" cy="652661"/>
          </a:xfrm>
          <a:prstGeom prst="roundRect">
            <a:avLst>
              <a:gd name="adj" fmla="val 681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7100" y="1777802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청킹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7100" y="2026642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원문 분할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9500" y="1958082"/>
            <a:ext cx="2032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5250" y="1682552"/>
            <a:ext cx="1473200" cy="652661"/>
          </a:xfrm>
          <a:prstGeom prst="roundRect">
            <a:avLst>
              <a:gd name="adj" fmla="val 681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1777802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0" y="2026642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[임베딩 모델]</a:t>
            </a:r>
            <a:endParaRPr lang="en-US" sz="12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5600" y="1958082"/>
            <a:ext cx="203200" cy="10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45000" y="1676202"/>
            <a:ext cx="1485900" cy="665361"/>
          </a:xfrm>
          <a:prstGeom prst="roundRect">
            <a:avLst>
              <a:gd name="adj" fmla="val 7635"/>
            </a:avLst>
          </a:prstGeom>
          <a:solidFill>
            <a:srgbClr val="0F42C0"/>
          </a:solidFill>
          <a:ln/>
        </p:spPr>
      </p:sp>
      <p:sp>
        <p:nvSpPr>
          <p:cNvPr id="14" name="Text 10"/>
          <p:cNvSpPr/>
          <p:nvPr/>
        </p:nvSpPr>
        <p:spPr>
          <a:xfrm>
            <a:off x="4559300" y="1777802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벡터DB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59300" y="2026642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 메타데이터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34100" y="1876822"/>
            <a:ext cx="1102519" cy="264120"/>
          </a:xfrm>
          <a:prstGeom prst="rect">
            <a:avLst/>
          </a:prstGeom>
          <a:solidFill>
            <a:srgbClr val="1412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인덱싱 · 1회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338219" y="1902222"/>
            <a:ext cx="4218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청크 [__]토큰 · 오버랩 [__] · 메타: 기업 규모·직무·마감일</a:t>
            </a:r>
            <a:endParaRPr lang="en-US" sz="1200" dirty="0"/>
          </a:p>
        </p:txBody>
      </p:sp>
      <p:pic>
        <p:nvPicPr>
          <p:cNvPr id="18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37150" y="2417763"/>
            <a:ext cx="101600" cy="203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9150" y="2703513"/>
            <a:ext cx="1473200" cy="652661"/>
          </a:xfrm>
          <a:prstGeom prst="roundRect">
            <a:avLst>
              <a:gd name="adj" fmla="val 6811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7100" y="2798763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경험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27100" y="3047603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텍스트</a:t>
            </a:r>
            <a:endParaRPr lang="en-US" sz="1200" dirty="0"/>
          </a:p>
        </p:txBody>
      </p:sp>
      <p:pic>
        <p:nvPicPr>
          <p:cNvPr id="2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49500" y="2979043"/>
            <a:ext cx="203200" cy="101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635250" y="2703513"/>
            <a:ext cx="1473200" cy="652661"/>
          </a:xfrm>
          <a:prstGeom prst="roundRect">
            <a:avLst>
              <a:gd name="adj" fmla="val 681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743200" y="2798763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쿼리 임베딩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2743200" y="3047603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모델</a:t>
            </a:r>
            <a:endParaRPr lang="en-US" sz="1200" dirty="0"/>
          </a:p>
        </p:txBody>
      </p:sp>
      <p:pic>
        <p:nvPicPr>
          <p:cNvPr id="26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165600" y="2979043"/>
            <a:ext cx="203200" cy="1016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451350" y="2703513"/>
            <a:ext cx="1473200" cy="652661"/>
          </a:xfrm>
          <a:prstGeom prst="roundRect">
            <a:avLst>
              <a:gd name="adj" fmla="val 681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559300" y="2798763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유사도 검색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59300" y="3047603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Top-K + 필터</a:t>
            </a:r>
            <a:endParaRPr lang="en-US" sz="1200" dirty="0"/>
          </a:p>
        </p:txBody>
      </p:sp>
      <p:pic>
        <p:nvPicPr>
          <p:cNvPr id="30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81700" y="2979043"/>
            <a:ext cx="203200" cy="1016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67450" y="2703513"/>
            <a:ext cx="1473200" cy="652661"/>
          </a:xfrm>
          <a:prstGeom prst="roundRect">
            <a:avLst>
              <a:gd name="adj" fmla="val 6811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375400" y="2798763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프롬프트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75400" y="3047603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+ 공고 근거</a:t>
            </a:r>
            <a:endParaRPr lang="en-US" sz="1200" dirty="0"/>
          </a:p>
        </p:txBody>
      </p:sp>
      <p:pic>
        <p:nvPicPr>
          <p:cNvPr id="34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797800" y="2979043"/>
            <a:ext cx="203200" cy="1016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8077200" y="2697163"/>
            <a:ext cx="1485900" cy="665361"/>
          </a:xfrm>
          <a:prstGeom prst="roundRect">
            <a:avLst>
              <a:gd name="adj" fmla="val 7635"/>
            </a:avLst>
          </a:prstGeom>
          <a:solidFill>
            <a:srgbClr val="14123A"/>
          </a:solidFill>
          <a:ln/>
        </p:spPr>
      </p:sp>
      <p:sp>
        <p:nvSpPr>
          <p:cNvPr id="36" name="Text 27"/>
          <p:cNvSpPr/>
          <p:nvPr/>
        </p:nvSpPr>
        <p:spPr>
          <a:xfrm>
            <a:off x="8191500" y="2798763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8191500" y="3047603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[모델명]</a:t>
            </a:r>
            <a:endParaRPr lang="en-US" sz="1200" dirty="0"/>
          </a:p>
        </p:txBody>
      </p:sp>
      <p:pic>
        <p:nvPicPr>
          <p:cNvPr id="38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613900" y="2979043"/>
            <a:ext cx="203200" cy="1016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893300" y="2697163"/>
            <a:ext cx="1485900" cy="665361"/>
          </a:xfrm>
          <a:prstGeom prst="roundRect">
            <a:avLst>
              <a:gd name="adj" fmla="val 7635"/>
            </a:avLst>
          </a:prstGeom>
          <a:solidFill>
            <a:srgbClr val="1F06AC"/>
          </a:solidFill>
          <a:ln/>
        </p:spPr>
      </p:sp>
      <p:sp>
        <p:nvSpPr>
          <p:cNvPr id="40" name="Text 30"/>
          <p:cNvSpPr/>
          <p:nvPr/>
        </p:nvSpPr>
        <p:spPr>
          <a:xfrm>
            <a:off x="10007600" y="2798763"/>
            <a:ext cx="13081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0007600" y="3047603"/>
            <a:ext cx="13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근거·로드맵·자소서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812800" y="3565723"/>
            <a:ext cx="1681361" cy="264120"/>
          </a:xfrm>
          <a:prstGeom prst="rect">
            <a:avLst/>
          </a:prstGeom>
          <a:solidFill>
            <a:srgbClr val="1F06A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검색 · 생성 · 요청마다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812800" y="4033044"/>
            <a:ext cx="5207000" cy="2062956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44" name="Shape 34"/>
          <p:cNvSpPr/>
          <p:nvPr/>
        </p:nvSpPr>
        <p:spPr>
          <a:xfrm>
            <a:off x="831850" y="4033044"/>
            <a:ext cx="0" cy="2062956"/>
          </a:xfrm>
          <a:prstGeom prst="line">
            <a:avLst/>
          </a:prstGeom>
          <a:noFill/>
          <a:ln w="38100">
            <a:solidFill>
              <a:srgbClr val="1F06AC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1028700" y="4185444"/>
            <a:ext cx="495769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환각 방지 프롬프트 규칙</a:t>
            </a:r>
            <a:endParaRPr lang="en-US" sz="1600" dirty="0"/>
          </a:p>
        </p:txBody>
      </p:sp>
      <p:sp>
        <p:nvSpPr>
          <p:cNvPr id="46" name="Text 36"/>
          <p:cNvSpPr/>
          <p:nvPr/>
        </p:nvSpPr>
        <p:spPr>
          <a:xfrm>
            <a:off x="1100582" y="4505424"/>
            <a:ext cx="487819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118" indent="-1821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공고·입력 경험에 없는 내용 생성 금지</a:t>
            </a:r>
            <a:endParaRPr lang="en-US" sz="1400" dirty="0"/>
          </a:p>
          <a:p>
            <a:pPr algn="l" marL="182118" indent="-1821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문장마다 출처 경험 ID 표기</a:t>
            </a:r>
            <a:endParaRPr lang="en-US" sz="1400" dirty="0"/>
          </a:p>
          <a:p>
            <a:pPr algn="l" marL="182118" indent="-1821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근거가 없으면 ‘정보 없음’으로 응답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6172200" y="4033044"/>
            <a:ext cx="5207000" cy="2062956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48" name="Shape 38"/>
          <p:cNvSpPr/>
          <p:nvPr/>
        </p:nvSpPr>
        <p:spPr>
          <a:xfrm>
            <a:off x="6191250" y="4033044"/>
            <a:ext cx="0" cy="2062956"/>
          </a:xfrm>
          <a:prstGeom prst="line">
            <a:avLst/>
          </a:prstGeom>
          <a:noFill/>
          <a:ln w="38100">
            <a:solidFill>
              <a:srgbClr val="E3EF4F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388100" y="4185444"/>
            <a:ext cx="495769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주요 설정</a:t>
            </a:r>
            <a:endParaRPr lang="en-US" sz="1600" dirty="0"/>
          </a:p>
        </p:txBody>
      </p:sp>
      <p:sp>
        <p:nvSpPr>
          <p:cNvPr id="50" name="Text 40"/>
          <p:cNvSpPr/>
          <p:nvPr/>
        </p:nvSpPr>
        <p:spPr>
          <a:xfrm>
            <a:off x="6459982" y="4505424"/>
            <a:ext cx="487819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118" indent="-1821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Top-K [__] · 유사도 [코사인]</a:t>
            </a:r>
            <a:endParaRPr lang="en-US" sz="1400" dirty="0"/>
          </a:p>
          <a:p>
            <a:pPr algn="l" marL="182118" indent="-1821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필터: 기업 규모 · 직무</a:t>
            </a:r>
            <a:endParaRPr lang="en-US" sz="1400" dirty="0"/>
          </a:p>
          <a:p>
            <a:pPr algn="l" marL="182118" indent="-1821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temperature [__]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모델 개발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독립변수(특징) 추출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점수에 쓸 특징을 세 가지 방법으로 검토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1701602"/>
            <a:ext cx="352308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K-Means 공고 군집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9150" y="2027932"/>
            <a:ext cx="3407767" cy="2951857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[엘보우 · 실루엣 그래프]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62339"/>
            <a:ext cx="352308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 = [__] · [유형명 나열]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5667" y="1701602"/>
            <a:ext cx="352318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상관분석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92017" y="2027932"/>
            <a:ext cx="3407866" cy="2951857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[특징 간 상관 히트맵]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5667" y="5062339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[유사도 ↔ 기술 일치율 r = __]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8634" y="1701602"/>
            <a:ext cx="352318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64984" y="2027932"/>
            <a:ext cx="3407866" cy="2951857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[직무 분류기 중요도 Top 10]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8634" y="5062339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상위: [키워드 1·2·3]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5539780"/>
            <a:ext cx="10566400" cy="556220"/>
          </a:xfrm>
          <a:prstGeom prst="rect">
            <a:avLst/>
          </a:prstGeom>
          <a:solidFill>
            <a:srgbClr val="14123A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5711230"/>
            <a:ext cx="75803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점수 =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02606" y="5669955"/>
            <a:ext cx="1332111" cy="295870"/>
          </a:xfrm>
          <a:prstGeom prst="rect">
            <a:avLst/>
          </a:prstGeom>
          <a:noFill/>
          <a:ln w="6350">
            <a:solidFill>
              <a:srgbClr val="5882E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의미 유사도 × [__]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9492" y="571123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35747" y="5669955"/>
            <a:ext cx="1332111" cy="295870"/>
          </a:xfrm>
          <a:prstGeom prst="rect">
            <a:avLst/>
          </a:prstGeom>
          <a:noFill/>
          <a:ln w="6350">
            <a:solidFill>
              <a:srgbClr val="5882E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기술 일치율 × [__]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2633" y="571123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68888" y="5669955"/>
            <a:ext cx="1196181" cy="295870"/>
          </a:xfrm>
          <a:prstGeom prst="rect">
            <a:avLst/>
          </a:prstGeom>
          <a:noFill/>
          <a:ln w="6350">
            <a:solidFill>
              <a:srgbClr val="5882E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직무 일치 × [__]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9844" y="5711230"/>
            <a:ext cx="133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기업 규모는 필터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모델 개발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모델별 파라미터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RAG 각 단계와 분석 모델의 설정값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701602"/>
            <a:ext cx="10566400" cy="2527598"/>
          </a:xfrm>
          <a:prstGeom prst="rect">
            <a:avLst/>
          </a:prstGeom>
          <a:solidFill>
            <a:srgbClr val="FCFBF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14302"/>
          <a:ext cx="10553700" cy="2514898"/>
        </p:xfrm>
        <a:graphic>
          <a:graphicData uri="http://schemas.openxmlformats.org/drawingml/2006/table">
            <a:tbl>
              <a:tblPr/>
              <a:tblGrid>
                <a:gridCol w="1477518"/>
                <a:gridCol w="2321814"/>
                <a:gridCol w="3799332"/>
                <a:gridCol w="295503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모델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주요 파라미터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선정 이유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임베딩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[모델명]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차원 [__] · 최대 토큰 [__]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[한국어 성능 등]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청킹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[분할 방식]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chunk_size [__] · overlap [__]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 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검색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[FAISS / Chroma]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Top-K [__] · 유사도 [코사인]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 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LLM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[모델명]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temperature [__] · max_tokens [__]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 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F7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직무 분류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[분류 모델]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[C · max_iter 등]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 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군집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K-Means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k = [__] · random_state [__]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[엘보우 기준]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모델 개발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모델별 성능 비교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샘플 프로필 [__]명 × 상위 N개 공고 적합 여부 기준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701602"/>
            <a:ext cx="10566400" cy="1942505"/>
          </a:xfrm>
          <a:prstGeom prst="rect">
            <a:avLst/>
          </a:prstGeom>
          <a:solidFill>
            <a:srgbClr val="FCFBF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14302"/>
          <a:ext cx="10553700" cy="1929805"/>
        </p:xfrm>
        <a:graphic>
          <a:graphicData uri="http://schemas.openxmlformats.org/drawingml/2006/table">
            <a:tbl>
              <a:tblPr/>
              <a:tblGrid>
                <a:gridCol w="2955036"/>
                <a:gridCol w="1899666"/>
                <a:gridCol w="1899666"/>
                <a:gridCol w="1899666"/>
                <a:gridCol w="1899666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검색 방식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Precision@5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Recall@10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nDCG@10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4E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응답 시간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BM25 (키워드)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Dense (임베딩)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Dense + 필터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[최종 선정 방식]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23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[__]초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4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3872706"/>
            <a:ext cx="3403600" cy="1071761"/>
          </a:xfrm>
          <a:prstGeom prst="rect">
            <a:avLst/>
          </a:prstGeom>
          <a:solidFill>
            <a:srgbClr val="1F06AC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025106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필터 적용 전후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6000" y="4263827"/>
            <a:ext cx="30871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E3EF4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+[__]%p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375150" y="3879056"/>
            <a:ext cx="3416300" cy="10590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84700" y="4037806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근거 일치율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84700" y="4276527"/>
            <a:ext cx="30871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[__]%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956550" y="3879056"/>
            <a:ext cx="3416300" cy="10590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66100" y="4037806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환각 문장 비율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66100" y="4276527"/>
            <a:ext cx="30871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웹 서비스 구현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기능 구성도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미리 만든 벡터DB와 LLM API를 Django 서버에서 묶어 브라우저에 제공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3148310"/>
            <a:ext cx="1257300" cy="642541"/>
          </a:xfrm>
          <a:prstGeom prst="roundRect">
            <a:avLst>
              <a:gd name="adj" fmla="val 6918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6784" y="3256260"/>
            <a:ext cx="1022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채용공고 소스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6592" y="3469580"/>
            <a:ext cx="442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[출처]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9150" y="3955951"/>
            <a:ext cx="1257300" cy="642541"/>
          </a:xfrm>
          <a:prstGeom prst="roundRect">
            <a:avLst>
              <a:gd name="adj" fmla="val 6918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2279" y="4063901"/>
            <a:ext cx="7110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5034" y="4277221"/>
            <a:ext cx="6054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[모델명]</a:t>
            </a:r>
            <a:endParaRPr lang="en-US" sz="1200" dirty="0"/>
          </a:p>
        </p:txBody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59000" y="3822601"/>
            <a:ext cx="177800" cy="101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19350" y="1853009"/>
            <a:ext cx="7480300" cy="4040684"/>
          </a:xfrm>
          <a:prstGeom prst="roundRect">
            <a:avLst>
              <a:gd name="adj" fmla="val 1729"/>
            </a:avLst>
          </a:prstGeom>
          <a:noFill/>
          <a:ln w="12700">
            <a:solidFill>
              <a:srgbClr val="9C98AE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2552700" y="1960959"/>
            <a:ext cx="147994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CONNECJOB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21438" y="2033290"/>
            <a:ext cx="139700" cy="139700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4488" y="1996480"/>
            <a:ext cx="7122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계산·처리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1365" y="2033290"/>
            <a:ext cx="139700" cy="139700"/>
          </a:xfrm>
          <a:prstGeom prst="rect">
            <a:avLst/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94415" y="1996480"/>
            <a:ext cx="7122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화면·외부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221291" y="2033290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3F7C9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94341" y="1996480"/>
            <a:ext cx="326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552700" y="2334320"/>
            <a:ext cx="2218234" cy="3451423"/>
          </a:xfrm>
          <a:prstGeom prst="roundRect">
            <a:avLst>
              <a:gd name="adj" fmla="val 2863"/>
            </a:avLst>
          </a:prstGeom>
          <a:solidFill>
            <a:srgbClr val="EAE8E0"/>
          </a:solidFill>
          <a:ln/>
        </p:spPr>
      </p:sp>
      <p:sp>
        <p:nvSpPr>
          <p:cNvPr id="21" name="Text 18"/>
          <p:cNvSpPr/>
          <p:nvPr/>
        </p:nvSpPr>
        <p:spPr>
          <a:xfrm>
            <a:off x="2610993" y="2423220"/>
            <a:ext cx="2101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오프라인 구축 </a:t>
            </a:r>
            <a:r>
              <a:rPr lang="en-US" sz="1200" b="1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(노트북)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647950" y="2706390"/>
            <a:ext cx="2027734" cy="540941"/>
          </a:xfrm>
          <a:prstGeom prst="roundRect">
            <a:avLst>
              <a:gd name="adj" fmla="val 586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18009" y="2763540"/>
            <a:ext cx="10875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수집·정제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6472" y="2976860"/>
            <a:ext cx="9105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[collect.py]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647950" y="3323530"/>
            <a:ext cx="2027734" cy="540941"/>
          </a:xfrm>
          <a:prstGeom prst="roundRect">
            <a:avLst>
              <a:gd name="adj" fmla="val 586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39668" y="3380680"/>
            <a:ext cx="10442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임베딩·인덱싱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000008" y="3594001"/>
            <a:ext cx="1323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[build_index.py]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647950" y="3940671"/>
            <a:ext cx="2027734" cy="540941"/>
          </a:xfrm>
          <a:prstGeom prst="roundRect">
            <a:avLst>
              <a:gd name="adj" fmla="val 22304"/>
            </a:avLst>
          </a:prstGeom>
          <a:solidFill>
            <a:srgbClr val="F3F7C9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73874" y="3997821"/>
            <a:ext cx="575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벡터DB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04674" y="4211141"/>
            <a:ext cx="11141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[chroma_db/]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647950" y="4557812"/>
            <a:ext cx="2027734" cy="540941"/>
          </a:xfrm>
          <a:prstGeom prst="roundRect">
            <a:avLst>
              <a:gd name="adj" fmla="val 22304"/>
            </a:avLst>
          </a:prstGeom>
          <a:solidFill>
            <a:srgbClr val="F3F7C9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13976" y="4614962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기술 사전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199438" y="4828282"/>
            <a:ext cx="9247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[skills.json]</a:t>
            </a:r>
            <a:endParaRPr lang="en-US" sz="1200" dirty="0"/>
          </a:p>
        </p:txBody>
      </p:sp>
      <p:pic>
        <p:nvPicPr>
          <p:cNvPr id="3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34434" y="4015581"/>
            <a:ext cx="152400" cy="8890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050334" y="2334320"/>
            <a:ext cx="2218333" cy="3451423"/>
          </a:xfrm>
          <a:prstGeom prst="roundRect">
            <a:avLst>
              <a:gd name="adj" fmla="val 2863"/>
            </a:avLst>
          </a:prstGeom>
          <a:solidFill>
            <a:srgbClr val="EAE8E0"/>
          </a:solidFill>
          <a:ln/>
        </p:spPr>
      </p:sp>
      <p:sp>
        <p:nvSpPr>
          <p:cNvPr id="36" name="Text 32"/>
          <p:cNvSpPr/>
          <p:nvPr/>
        </p:nvSpPr>
        <p:spPr>
          <a:xfrm>
            <a:off x="5108626" y="2423220"/>
            <a:ext cx="21017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Django 서버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139234" y="2700040"/>
            <a:ext cx="2040533" cy="528241"/>
          </a:xfrm>
          <a:prstGeom prst="roundRect">
            <a:avLst>
              <a:gd name="adj" fmla="val 7213"/>
            </a:avLst>
          </a:prstGeom>
          <a:solidFill>
            <a:srgbClr val="14123A"/>
          </a:solidFill>
          <a:ln/>
        </p:spPr>
      </p:sp>
      <p:sp>
        <p:nvSpPr>
          <p:cNvPr id="38" name="Text 34"/>
          <p:cNvSpPr/>
          <p:nvPr/>
        </p:nvSpPr>
        <p:spPr>
          <a:xfrm>
            <a:off x="5787440" y="2750840"/>
            <a:ext cx="7440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RAG 체인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267960" y="2964160"/>
            <a:ext cx="17830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 → 프롬프트 → LLM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5145584" y="3298130"/>
            <a:ext cx="2027833" cy="540941"/>
          </a:xfrm>
          <a:prstGeom prst="roundRect">
            <a:avLst>
              <a:gd name="adj" fmla="val 586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812562" y="3355280"/>
            <a:ext cx="6937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API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5470843" y="3568601"/>
            <a:ext cx="13773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/api/recommend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5145584" y="3915271"/>
            <a:ext cx="2027833" cy="540941"/>
          </a:xfrm>
          <a:prstGeom prst="roundRect">
            <a:avLst>
              <a:gd name="adj" fmla="val 586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731004" y="3972421"/>
            <a:ext cx="8568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로드맵 API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5597763" y="4185741"/>
            <a:ext cx="11234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/api/roadmap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5145584" y="4532412"/>
            <a:ext cx="2027833" cy="540941"/>
          </a:xfrm>
          <a:prstGeom prst="roundRect">
            <a:avLst>
              <a:gd name="adj" fmla="val 5869"/>
            </a:avLst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731004" y="4589562"/>
            <a:ext cx="8568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API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5486559" y="4802882"/>
            <a:ext cx="1345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/api/cover-letter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5145584" y="5149552"/>
            <a:ext cx="2027833" cy="540941"/>
          </a:xfrm>
          <a:prstGeom prst="roundRect">
            <a:avLst>
              <a:gd name="adj" fmla="val 22304"/>
            </a:avLst>
          </a:prstGeom>
          <a:solidFill>
            <a:srgbClr val="F3F7C9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850057" y="5206702"/>
            <a:ext cx="6188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 DB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891014" y="5420023"/>
            <a:ext cx="5369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</a:t>
            </a:r>
            <a:endParaRPr lang="en-US" sz="1200" dirty="0"/>
          </a:p>
        </p:txBody>
      </p:sp>
      <p:pic>
        <p:nvPicPr>
          <p:cNvPr id="5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32166" y="4015581"/>
            <a:ext cx="152400" cy="88900"/>
          </a:xfrm>
          <a:prstGeom prst="rect">
            <a:avLst/>
          </a:prstGeom>
        </p:spPr>
      </p:pic>
      <p:sp>
        <p:nvSpPr>
          <p:cNvPr id="53" name="Shape 48"/>
          <p:cNvSpPr/>
          <p:nvPr/>
        </p:nvSpPr>
        <p:spPr>
          <a:xfrm>
            <a:off x="7548066" y="2334320"/>
            <a:ext cx="2218234" cy="3451423"/>
          </a:xfrm>
          <a:prstGeom prst="roundRect">
            <a:avLst>
              <a:gd name="adj" fmla="val 2863"/>
            </a:avLst>
          </a:prstGeom>
          <a:solidFill>
            <a:srgbClr val="EAE8E0"/>
          </a:solidFill>
          <a:ln/>
        </p:spPr>
      </p:sp>
      <p:sp>
        <p:nvSpPr>
          <p:cNvPr id="54" name="Text 49"/>
          <p:cNvSpPr/>
          <p:nvPr/>
        </p:nvSpPr>
        <p:spPr>
          <a:xfrm>
            <a:off x="7606360" y="2423220"/>
            <a:ext cx="2101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브라우저 화면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7643316" y="2706390"/>
            <a:ext cx="2027734" cy="540941"/>
          </a:xfrm>
          <a:prstGeom prst="roundRect">
            <a:avLst>
              <a:gd name="adj" fmla="val 586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8309342" y="2763540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입력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8602563" y="2976860"/>
            <a:ext cx="1092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</a:t>
            </a:r>
            <a:endParaRPr lang="en-US" sz="1200" dirty="0"/>
          </a:p>
        </p:txBody>
      </p:sp>
      <p:sp>
        <p:nvSpPr>
          <p:cNvPr id="58" name="Shape 53"/>
          <p:cNvSpPr/>
          <p:nvPr/>
        </p:nvSpPr>
        <p:spPr>
          <a:xfrm>
            <a:off x="7643316" y="3323530"/>
            <a:ext cx="2027734" cy="540941"/>
          </a:xfrm>
          <a:prstGeom prst="roundRect">
            <a:avLst>
              <a:gd name="adj" fmla="val 586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309342" y="3380680"/>
            <a:ext cx="695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결과</a:t>
            </a:r>
            <a:endParaRPr lang="en-US" sz="1200" dirty="0"/>
          </a:p>
        </p:txBody>
      </p:sp>
      <p:sp>
        <p:nvSpPr>
          <p:cNvPr id="60" name="Text 55"/>
          <p:cNvSpPr/>
          <p:nvPr/>
        </p:nvSpPr>
        <p:spPr>
          <a:xfrm>
            <a:off x="8341261" y="3594001"/>
            <a:ext cx="6317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/results</a:t>
            </a:r>
            <a:endParaRPr lang="en-US" sz="1200" dirty="0"/>
          </a:p>
        </p:txBody>
      </p:sp>
      <p:sp>
        <p:nvSpPr>
          <p:cNvPr id="61" name="Shape 56"/>
          <p:cNvSpPr/>
          <p:nvPr/>
        </p:nvSpPr>
        <p:spPr>
          <a:xfrm>
            <a:off x="7643316" y="3940671"/>
            <a:ext cx="2027734" cy="540941"/>
          </a:xfrm>
          <a:prstGeom prst="roundRect">
            <a:avLst>
              <a:gd name="adj" fmla="val 586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8227675" y="3997821"/>
            <a:ext cx="858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 로드맵</a:t>
            </a:r>
            <a:endParaRPr lang="en-US" sz="1200" dirty="0"/>
          </a:p>
        </p:txBody>
      </p:sp>
      <p:sp>
        <p:nvSpPr>
          <p:cNvPr id="63" name="Text 58"/>
          <p:cNvSpPr/>
          <p:nvPr/>
        </p:nvSpPr>
        <p:spPr>
          <a:xfrm>
            <a:off x="8254226" y="4211141"/>
            <a:ext cx="805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/roadmap</a:t>
            </a:r>
            <a:endParaRPr lang="en-US" sz="1200" dirty="0"/>
          </a:p>
        </p:txBody>
      </p:sp>
      <p:sp>
        <p:nvSpPr>
          <p:cNvPr id="64" name="Shape 59"/>
          <p:cNvSpPr/>
          <p:nvPr/>
        </p:nvSpPr>
        <p:spPr>
          <a:xfrm>
            <a:off x="7643316" y="4557812"/>
            <a:ext cx="2027734" cy="540941"/>
          </a:xfrm>
          <a:prstGeom prst="roundRect">
            <a:avLst>
              <a:gd name="adj" fmla="val 5869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8249335" y="4614962"/>
            <a:ext cx="8156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자기소개서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8143022" y="4828282"/>
            <a:ext cx="10282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/cover-letter</a:t>
            </a:r>
            <a:endParaRPr lang="en-US" sz="1200" dirty="0"/>
          </a:p>
        </p:txBody>
      </p:sp>
      <p:pic>
        <p:nvPicPr>
          <p:cNvPr id="6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82200" y="3822601"/>
            <a:ext cx="177800" cy="101600"/>
          </a:xfrm>
          <a:prstGeom prst="rect">
            <a:avLst/>
          </a:prstGeom>
        </p:spPr>
      </p:pic>
      <p:sp>
        <p:nvSpPr>
          <p:cNvPr id="68" name="Shape 62"/>
          <p:cNvSpPr/>
          <p:nvPr/>
        </p:nvSpPr>
        <p:spPr>
          <a:xfrm>
            <a:off x="10242550" y="3254970"/>
            <a:ext cx="1130300" cy="1236861"/>
          </a:xfrm>
          <a:prstGeom prst="roundRect">
            <a:avLst>
              <a:gd name="adj" fmla="val 3933"/>
            </a:avLst>
          </a:prstGeom>
          <a:solidFill>
            <a:srgbClr val="E8E5F7"/>
          </a:solidFill>
          <a:ln w="12700">
            <a:solidFill>
              <a:srgbClr val="14123A"/>
            </a:solidFill>
            <a:prstDash val="solid"/>
          </a:ln>
        </p:spPr>
      </p:sp>
      <p:pic>
        <p:nvPicPr>
          <p:cNvPr id="69" name="Image 4" descr="User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55300" y="3439120"/>
            <a:ext cx="304800" cy="304800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10522188" y="3794720"/>
            <a:ext cx="57102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이용자</a:t>
            </a:r>
            <a:endParaRPr lang="en-US" sz="1400" dirty="0"/>
          </a:p>
        </p:txBody>
      </p:sp>
      <p:sp>
        <p:nvSpPr>
          <p:cNvPr id="71" name="Text 64"/>
          <p:cNvSpPr/>
          <p:nvPr/>
        </p:nvSpPr>
        <p:spPr>
          <a:xfrm>
            <a:off x="10377775" y="4094361"/>
            <a:ext cx="85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PC · 모바일</a:t>
            </a:r>
            <a:endParaRPr lang="en-US" sz="1200" dirty="0"/>
          </a:p>
        </p:txBody>
      </p:sp>
      <p:sp>
        <p:nvSpPr>
          <p:cNvPr id="72" name="Text 65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14</a:t>
            </a:r>
            <a:endParaRPr lang="en-US" sz="1200" dirty="0"/>
          </a:p>
        </p:txBody>
      </p:sp>
      <p:sp>
        <p:nvSpPr>
          <p:cNvPr id="73" name="Text 66"/>
          <p:cNvSpPr/>
          <p:nvPr/>
        </p:nvSpPr>
        <p:spPr>
          <a:xfrm>
            <a:off x="5492750" y="63398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파일명·URL은 구현 후 실제 값으로 수정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59000"/>
            <a:ext cx="10566400" cy="1905000"/>
          </a:xfrm>
          <a:prstGeom prst="roundRect">
            <a:avLst>
              <a:gd name="adj" fmla="val 3333"/>
            </a:avLst>
          </a:prstGeom>
          <a:solidFill>
            <a:srgbClr val="ECEAE2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" y="4165600"/>
            <a:ext cx="10566400" cy="1905000"/>
          </a:xfrm>
          <a:prstGeom prst="roundRect">
            <a:avLst>
              <a:gd name="adj" fmla="val 3333"/>
            </a:avLst>
          </a:prstGeom>
          <a:solidFill>
            <a:srgbClr val="ECEAE2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웹 서비스 구현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시퀀스 다이어그램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가지 동작의 요청 순서 — 실선 = 요청 · 점선 = 응답 · 숫자 = 순서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68600" y="1727200"/>
            <a:ext cx="1397000" cy="330200"/>
          </a:xfrm>
          <a:prstGeom prst="rect">
            <a:avLst/>
          </a:prstGeom>
          <a:solidFill>
            <a:srgbClr val="14123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이용자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7550" y="1727200"/>
            <a:ext cx="1397000" cy="330200"/>
          </a:xfrm>
          <a:prstGeom prst="rect">
            <a:avLst/>
          </a:pr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브라우저 화면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86500" y="1727200"/>
            <a:ext cx="1397000" cy="330200"/>
          </a:xfrm>
          <a:prstGeom prst="rect">
            <a:avLst/>
          </a:pr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Django 서버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5450" y="1727200"/>
            <a:ext cx="1397000" cy="330200"/>
          </a:xfrm>
          <a:prstGeom prst="rect">
            <a:avLst/>
          </a:prstGeom>
          <a:solidFill>
            <a:srgbClr val="0F42C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벡터DB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04400" y="1727200"/>
            <a:ext cx="1397000" cy="330200"/>
          </a:xfrm>
          <a:prstGeom prst="rect">
            <a:avLst/>
          </a:prstGeom>
          <a:solidFill>
            <a:srgbClr val="14123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 API</a:t>
            </a:r>
            <a:endParaRPr lang="en-US" sz="1200" dirty="0"/>
          </a:p>
        </p:txBody>
      </p:sp>
      <p:pic>
        <p:nvPicPr>
          <p:cNvPr id="12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2019300"/>
            <a:ext cx="76200" cy="4089400"/>
          </a:xfrm>
          <a:prstGeom prst="rect">
            <a:avLst/>
          </a:prstGeom>
        </p:spPr>
      </p:pic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87950" y="2019300"/>
            <a:ext cx="76200" cy="4089400"/>
          </a:xfrm>
          <a:prstGeom prst="rect">
            <a:avLst/>
          </a:prstGeom>
        </p:spPr>
      </p:pic>
      <p:pic>
        <p:nvPicPr>
          <p:cNvPr id="1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46900" y="2019300"/>
            <a:ext cx="76200" cy="4089400"/>
          </a:xfrm>
          <a:prstGeom prst="rect">
            <a:avLst/>
          </a:prstGeom>
        </p:spPr>
      </p:pic>
      <p:pic>
        <p:nvPicPr>
          <p:cNvPr id="1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05850" y="2019300"/>
            <a:ext cx="76200" cy="4089400"/>
          </a:xfrm>
          <a:prstGeom prst="rect">
            <a:avLst/>
          </a:prstGeom>
        </p:spPr>
      </p:pic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64800" y="2019300"/>
            <a:ext cx="76200" cy="4089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5200" y="2286000"/>
            <a:ext cx="15748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965200" y="2641600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추천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965200" y="290830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/results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65200" y="4292600"/>
            <a:ext cx="1574800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965200" y="4648200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생성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65200" y="491490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/cover-letter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017000" y="2387600"/>
            <a:ext cx="2286000" cy="264120"/>
          </a:xfrm>
          <a:prstGeom prst="rect">
            <a:avLst/>
          </a:prstGeom>
          <a:solidFill>
            <a:srgbClr val="E3EF4F"/>
          </a:solidFill>
          <a:ln/>
        </p:spPr>
        <p:txBody>
          <a:bodyPr wrap="square" lIns="76200" tIns="25400" rIns="12192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필터: 기업 규모·직무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017000" y="4381500"/>
            <a:ext cx="2286000" cy="264120"/>
          </a:xfrm>
          <a:prstGeom prst="rect">
            <a:avLst/>
          </a:prstGeom>
          <a:solidFill>
            <a:srgbClr val="E3EF4F"/>
          </a:solidFill>
          <a:ln/>
        </p:spPr>
        <p:txBody>
          <a:bodyPr wrap="square" lIns="76200" tIns="25400" rIns="12192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규칙: 없는 경험 생성 금지</a:t>
            </a:r>
            <a:endParaRPr lang="en-US" sz="1200" dirty="0"/>
          </a:p>
        </p:txBody>
      </p:sp>
      <p:pic>
        <p:nvPicPr>
          <p:cNvPr id="2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29000" y="2400300"/>
            <a:ext cx="1835150" cy="76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19500" y="2222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입력·제출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3352800" y="232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28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87950" y="2654300"/>
            <a:ext cx="1835150" cy="76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78450" y="2476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 /api/recommend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5111750" y="2578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31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46900" y="2908300"/>
            <a:ext cx="1835150" cy="762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37400" y="2730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유사 공고 검색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6870700" y="283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34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946900" y="3162300"/>
            <a:ext cx="1835150" cy="762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137400" y="2984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Top-K 공고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8629650" y="308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37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46900" y="3416300"/>
            <a:ext cx="3594100" cy="762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137400" y="3238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설명 생성 요청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6870700" y="334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00" dirty="0"/>
          </a:p>
        </p:txBody>
      </p:sp>
      <p:pic>
        <p:nvPicPr>
          <p:cNvPr id="40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946900" y="3670300"/>
            <a:ext cx="3594100" cy="7620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7137400" y="3492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문장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10388600" y="359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00" dirty="0"/>
          </a:p>
        </p:txBody>
      </p:sp>
      <p:pic>
        <p:nvPicPr>
          <p:cNvPr id="43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187950" y="3924300"/>
            <a:ext cx="1835150" cy="7620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378450" y="37465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카드·근거 표시</a:t>
            </a:r>
            <a:endParaRPr lang="en-US" sz="1200" dirty="0"/>
          </a:p>
        </p:txBody>
      </p:sp>
      <p:sp>
        <p:nvSpPr>
          <p:cNvPr id="45" name="Text 31"/>
          <p:cNvSpPr/>
          <p:nvPr/>
        </p:nvSpPr>
        <p:spPr>
          <a:xfrm>
            <a:off x="6870700" y="3848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</a:t>
            </a:r>
            <a:endParaRPr lang="en-US" sz="1200" dirty="0"/>
          </a:p>
        </p:txBody>
      </p:sp>
      <p:pic>
        <p:nvPicPr>
          <p:cNvPr id="46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429000" y="4406900"/>
            <a:ext cx="1835150" cy="7620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3619500" y="4229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선택·자소서 요청</a:t>
            </a:r>
            <a:endParaRPr lang="en-US" sz="1200" dirty="0"/>
          </a:p>
        </p:txBody>
      </p:sp>
      <p:sp>
        <p:nvSpPr>
          <p:cNvPr id="48" name="Text 33"/>
          <p:cNvSpPr/>
          <p:nvPr/>
        </p:nvSpPr>
        <p:spPr>
          <a:xfrm>
            <a:off x="3352800" y="433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49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187950" y="4660900"/>
            <a:ext cx="1835150" cy="7620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5378450" y="4483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 /api/cover-letter</a:t>
            </a:r>
            <a:endParaRPr lang="en-US" sz="1200" dirty="0"/>
          </a:p>
        </p:txBody>
      </p:sp>
      <p:sp>
        <p:nvSpPr>
          <p:cNvPr id="51" name="Text 35"/>
          <p:cNvSpPr/>
          <p:nvPr/>
        </p:nvSpPr>
        <p:spPr>
          <a:xfrm>
            <a:off x="5111750" y="458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52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946900" y="4914900"/>
            <a:ext cx="1835150" cy="7620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7137400" y="4737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관련 경험·공고 검색</a:t>
            </a:r>
            <a:endParaRPr lang="en-US" sz="1200" dirty="0"/>
          </a:p>
        </p:txBody>
      </p:sp>
      <p:sp>
        <p:nvSpPr>
          <p:cNvPr id="54" name="Text 37"/>
          <p:cNvSpPr/>
          <p:nvPr/>
        </p:nvSpPr>
        <p:spPr>
          <a:xfrm>
            <a:off x="6870700" y="483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55" name="Image 15" descr="connector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946900" y="5168900"/>
            <a:ext cx="1835150" cy="76200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7137400" y="4991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E1~En · 원문</a:t>
            </a:r>
            <a:endParaRPr lang="en-US" sz="1200" dirty="0"/>
          </a:p>
        </p:txBody>
      </p:sp>
      <p:sp>
        <p:nvSpPr>
          <p:cNvPr id="57" name="Text 39"/>
          <p:cNvSpPr/>
          <p:nvPr/>
        </p:nvSpPr>
        <p:spPr>
          <a:xfrm>
            <a:off x="8629650" y="5092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58" name="Image 16" descr="connector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946900" y="5422900"/>
            <a:ext cx="3594100" cy="76200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7137400" y="5245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초안 생성 (출처 ID 포함)</a:t>
            </a:r>
            <a:endParaRPr lang="en-US" sz="1200" dirty="0"/>
          </a:p>
        </p:txBody>
      </p:sp>
      <p:sp>
        <p:nvSpPr>
          <p:cNvPr id="60" name="Text 41"/>
          <p:cNvSpPr/>
          <p:nvPr/>
        </p:nvSpPr>
        <p:spPr>
          <a:xfrm>
            <a:off x="6870700" y="5346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00" dirty="0"/>
          </a:p>
        </p:txBody>
      </p:sp>
      <p:pic>
        <p:nvPicPr>
          <p:cNvPr id="61" name="Image 17" descr="connector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6946900" y="5676900"/>
            <a:ext cx="3594100" cy="76200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7137400" y="5499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초안</a:t>
            </a:r>
            <a:endParaRPr lang="en-US" sz="1200" dirty="0"/>
          </a:p>
        </p:txBody>
      </p:sp>
      <p:sp>
        <p:nvSpPr>
          <p:cNvPr id="63" name="Text 43"/>
          <p:cNvSpPr/>
          <p:nvPr/>
        </p:nvSpPr>
        <p:spPr>
          <a:xfrm>
            <a:off x="10388600" y="560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00" dirty="0"/>
          </a:p>
        </p:txBody>
      </p:sp>
      <p:pic>
        <p:nvPicPr>
          <p:cNvPr id="64" name="Image 18" descr="connector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187950" y="5930900"/>
            <a:ext cx="1835150" cy="76200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5378450" y="5753100"/>
            <a:ext cx="26162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문항별 초안·출처 표시</a:t>
            </a:r>
            <a:endParaRPr lang="en-US" sz="1200" dirty="0"/>
          </a:p>
        </p:txBody>
      </p:sp>
      <p:sp>
        <p:nvSpPr>
          <p:cNvPr id="66" name="Text 45"/>
          <p:cNvSpPr/>
          <p:nvPr/>
        </p:nvSpPr>
        <p:spPr>
          <a:xfrm>
            <a:off x="6870700" y="585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arcTo hR="114300" wR="114300" stAng="16200000" swAng="5400000"/>
                <a:lnTo>
                  <a:pt x="228600" y="114300"/>
                </a:lnTo>
                <a:arcTo hR="114300" wR="114300" stAng="0" swAng="5400000"/>
                <a:lnTo>
                  <a:pt x="114300" y="228600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1F06A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</a:t>
            </a:r>
            <a:endParaRPr lang="en-US" sz="1200" dirty="0"/>
          </a:p>
        </p:txBody>
      </p:sp>
      <p:sp>
        <p:nvSpPr>
          <p:cNvPr id="67" name="Text 46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47"/>
          <p:cNvSpPr/>
          <p:nvPr/>
        </p:nvSpPr>
        <p:spPr>
          <a:xfrm>
            <a:off x="5492750" y="63398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[views.py · rag_chain.py 등]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웹 서비스 구현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To-be 시나리오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취업 준비생 [이름]이 커넥잡으로 지원하기까지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1676202"/>
            <a:ext cx="26031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경험 입력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9150" y="2020292"/>
            <a:ext cx="2514600" cy="2903538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[화면 캡처]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9080"/>
            <a:ext cx="26031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프로젝트 2개와 자격증을 입력하고 희망 직무로 [백엔드]를 고른다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92500" y="1676202"/>
            <a:ext cx="26031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추천 확인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98850" y="2020292"/>
            <a:ext cx="2514600" cy="2903538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[화면 캡처]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2500" y="5019080"/>
            <a:ext cx="26031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공고와 ‘요구 기술 ↔ 내 경험’ 근거를 공고 원문과 함께 본다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1676202"/>
            <a:ext cx="26031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준비 로드맵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8550" y="2020292"/>
            <a:ext cx="2514600" cy="2903538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[화면 캡처]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5019080"/>
            <a:ext cx="26031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부족한 [Docker]가 요구 비율 1순위임을 보고 학습 자료를 받는다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51900" y="1676202"/>
            <a:ext cx="26031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자소서 작성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58250" y="2020292"/>
            <a:ext cx="2514600" cy="2903538"/>
          </a:xfrm>
          <a:prstGeom prst="rect">
            <a:avLst/>
          </a:prstGeom>
          <a:solidFill>
            <a:srgbClr val="FCFBF8"/>
          </a:solidFill>
          <a:ln w="12700">
            <a:solidFill>
              <a:srgbClr val="9C98AE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[화면 캡처]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51900" y="5019080"/>
            <a:ext cx="26031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문항별 초안을 받고, 문장마다 붙은 출처 경험을 확인해 다듬는다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00" y="5679480"/>
            <a:ext cx="5283200" cy="416520"/>
          </a:xfrm>
          <a:prstGeom prst="rect">
            <a:avLst/>
          </a:prstGeom>
          <a:solidFill>
            <a:srgbClr val="E8E5F7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5781080"/>
            <a:ext cx="5035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AS-IS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6396" y="5781080"/>
            <a:ext cx="3391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사이트를 오가며 탐색·요건 대조·자소서를 따로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6000" y="5679480"/>
            <a:ext cx="5283200" cy="416520"/>
          </a:xfrm>
          <a:prstGeom prst="rect">
            <a:avLst/>
          </a:prstGeom>
          <a:solidFill>
            <a:srgbClr val="1F06AC"/>
          </a:solidFill>
          <a:ln/>
        </p:spPr>
      </p:sp>
      <p:sp>
        <p:nvSpPr>
          <p:cNvPr id="21" name="Text 19"/>
          <p:cNvSpPr/>
          <p:nvPr/>
        </p:nvSpPr>
        <p:spPr>
          <a:xfrm>
            <a:off x="6248400" y="5781080"/>
            <a:ext cx="5423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TO-BE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01941" y="5781080"/>
            <a:ext cx="29890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한 번 입력으로 추천부터 자소서까지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06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8525" y="1444625"/>
            <a:ext cx="5391150" cy="3028950"/>
          </a:xfrm>
          <a:prstGeom prst="rect">
            <a:avLst/>
          </a:prstGeom>
          <a:solidFill>
            <a:srgbClr val="0F42C0"/>
          </a:solidFill>
          <a:ln w="19050">
            <a:solidFill>
              <a:srgbClr val="E3EF4F"/>
            </a:solidFill>
            <a:prstDash val="dash"/>
          </a:ln>
        </p:spPr>
        <p:txBody>
          <a:bodyPr wrap="square" lIns="9525" tIns="9525" rIns="9525" bIns="9525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[시연 영상 삽입]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313980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웹 서비스 구현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40620"/>
            <a:ext cx="470916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0" i="0" dirty="0">
                <a:solidFill>
                  <a:srgbClr val="F5F4E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웹 시연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3934420"/>
            <a:ext cx="47091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경험 입력 → 추천 → 로드맵 → 자소서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[서비스 URL]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프로젝트 결론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최종 결과 및 시사점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2241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근거를 함께 보여 주는 추천이 [핵심 결론 한 줄]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701602"/>
            <a:ext cx="3403600" cy="1122561"/>
          </a:xfrm>
          <a:prstGeom prst="rect">
            <a:avLst/>
          </a:prstGeom>
          <a:solidFill>
            <a:srgbClr val="1F06A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879402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 정확도 P@5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118122"/>
            <a:ext cx="30871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E3EF4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[__]%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375150" y="1707952"/>
            <a:ext cx="3416300" cy="11098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4700" y="1892102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필터 적용 후 향상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4700" y="2130822"/>
            <a:ext cx="30871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+[__]%p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956550" y="1707952"/>
            <a:ext cx="3416300" cy="1109861"/>
          </a:xfrm>
          <a:prstGeom prst="rect">
            <a:avLst/>
          </a:prstGeom>
          <a:solidFill>
            <a:srgbClr val="FCFBF8"/>
          </a:solidFill>
          <a:ln w="12700">
            <a:solidFill>
              <a:srgbClr val="141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6100" y="1892102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자소서 근거 일치율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66100" y="2130822"/>
            <a:ext cx="30871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F06A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[__]%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12800" y="3059113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192463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시사점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192463"/>
            <a:ext cx="50784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[예: 공고 원문 근거를 함께 보여 줄 때 추천 신뢰도가 높아짐]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" y="3574653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708003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시사점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3708003"/>
            <a:ext cx="42043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[예: 출처 ID 규칙으로 지어낸 경험 문장이 줄어듦]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4090194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" y="4605734"/>
            <a:ext cx="10566400" cy="0"/>
          </a:xfrm>
          <a:prstGeom prst="line">
            <a:avLst/>
          </a:prstGeom>
          <a:noFill/>
          <a:ln w="12700">
            <a:solidFill>
              <a:srgbClr val="141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223544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06A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86000" y="4223544"/>
            <a:ext cx="42937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[예: 수집 공고 규모·기간 제한, 평가 라벨의 주관성]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882E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프로젝트 결론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6705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1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향후 연구 방향 · 참고문헌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401961"/>
            <a:ext cx="528472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향후 연구 방향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1772741"/>
            <a:ext cx="5130800" cy="754261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6" name="Shape 4"/>
          <p:cNvSpPr/>
          <p:nvPr/>
        </p:nvSpPr>
        <p:spPr>
          <a:xfrm>
            <a:off x="831850" y="1772741"/>
            <a:ext cx="0" cy="754261"/>
          </a:xfrm>
          <a:prstGeom prst="line">
            <a:avLst/>
          </a:prstGeom>
          <a:noFill/>
          <a:ln w="38100">
            <a:solidFill>
              <a:srgbClr val="1F06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300" y="1899741"/>
            <a:ext cx="493153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공고 자동 갱신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3300" y="2186682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주기적 수집과 재인덱싱으로 최신 공고 반영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54002"/>
            <a:ext cx="5130800" cy="754261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0" name="Shape 8"/>
          <p:cNvSpPr/>
          <p:nvPr/>
        </p:nvSpPr>
        <p:spPr>
          <a:xfrm>
            <a:off x="831850" y="2654002"/>
            <a:ext cx="0" cy="754261"/>
          </a:xfrm>
          <a:prstGeom prst="line">
            <a:avLst/>
          </a:prstGeom>
          <a:noFill/>
          <a:ln w="38100">
            <a:solidFill>
              <a:srgbClr val="0F4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3300" y="2781002"/>
            <a:ext cx="493153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면접 준비로 확장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3300" y="3067943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 면접 질문 생성 · STAR 기법 경험 서술 피드백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535263"/>
            <a:ext cx="5130800" cy="754261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31850" y="3535263"/>
            <a:ext cx="0" cy="754261"/>
          </a:xfrm>
          <a:prstGeom prst="line">
            <a:avLst/>
          </a:prstGeom>
          <a:noFill/>
          <a:ln w="38100">
            <a:solidFill>
              <a:srgbClr val="588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3300" y="3662263"/>
            <a:ext cx="493153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피드백 기반 재순위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3300" y="3949204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반응(저장·지원)으로 추천 순위 개선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01961"/>
            <a:ext cx="528472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23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참고문헌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3430" y="1772741"/>
            <a:ext cx="5192074" cy="1731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970" indent="-168970">
              <a:lnSpc>
                <a:spcPts val="192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Lewis, P. et al. (2020). Retrieval-Augmented Generation for Knowledge-Intensive NLP Tasks. NeurIPS 2020.</a:t>
            </a:r>
            <a:endParaRPr lang="en-US" sz="1200" dirty="0"/>
          </a:p>
          <a:p>
            <a:pPr algn="l" marL="168970" indent="-168970">
              <a:lnSpc>
                <a:spcPts val="192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Johnson, J., Douze, M., Jégou, H. (2019). Billion-scale similarity search with GPUs. IEEE Transactions on Big Data.</a:t>
            </a:r>
            <a:endParaRPr lang="en-US" sz="1200" dirty="0"/>
          </a:p>
          <a:p>
            <a:pPr algn="l" marL="168970" indent="-168970">
              <a:lnSpc>
                <a:spcPts val="192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Django Software Foundation. Django Documentation.</a:t>
            </a:r>
            <a:endParaRPr lang="en-US" sz="1200" dirty="0"/>
          </a:p>
          <a:p>
            <a:pPr algn="l" marL="168970" indent="-168970">
              <a:lnSpc>
                <a:spcPts val="192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[임베딩 모델 문서 · 논문]</a:t>
            </a:r>
            <a:endParaRPr lang="en-US" sz="1200" dirty="0"/>
          </a:p>
          <a:p>
            <a:pPr algn="l" marL="168970" indent="-168970">
              <a:lnSpc>
                <a:spcPts val="1920"/>
              </a:lnSpc>
              <a:buSzPct val="100000"/>
              <a:buFontTx/>
              <a:buAutoNum type="arabicPeriod" startAt="1"/>
            </a:pPr>
            <a:r>
              <a:rPr lang="en-US" sz="1200" dirty="0">
                <a:solidFill>
                  <a:srgbClr val="45425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[데이터 출처 · 이용약관]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3398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B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06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85200" y="3302000"/>
            <a:ext cx="2794000" cy="279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3000" y="4953000"/>
            <a:ext cx="2159000" cy="1092200"/>
          </a:xfrm>
          <a:prstGeom prst="rect">
            <a:avLst/>
          </a:prstGeom>
          <a:solidFill>
            <a:srgbClr val="0F42C0"/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24765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Q&amp;A</a:t>
            </a:r>
            <a:endParaRPr lang="en-US" sz="14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903141"/>
            <a:ext cx="719455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0" i="0" dirty="0">
                <a:solidFill>
                  <a:srgbClr val="F5F4E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감사합니다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812800" y="4096941"/>
            <a:ext cx="58864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Connec</a:t>
            </a:r>
            <a:r>
              <a:rPr lang="en-US" sz="1600" dirty="0">
                <a:solidFill>
                  <a:srgbClr val="E3EF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Job</a:t>
            </a:r>
            <a:r>
              <a:rPr lang="en-US" sz="1600" dirty="0">
                <a:solidFill>
                  <a:srgbClr val="C9C3F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박채원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커넥잡 발표 시안">
  <a:themeElements>
    <a:clrScheme name="커넥잡 발표 시안">
      <a:dk1>
        <a:srgbClr val="14123A"/>
      </a:dk1>
      <a:lt1>
        <a:srgbClr val="F5F4EF"/>
      </a:lt1>
      <a:dk2>
        <a:srgbClr val="4C4B67"/>
      </a:dk2>
      <a:lt2>
        <a:srgbClr val="DFDDDD"/>
      </a:lt2>
      <a:accent1>
        <a:srgbClr val="1F06AC"/>
      </a:accent1>
      <a:accent2>
        <a:srgbClr val="E3EF4F"/>
      </a:accent2>
      <a:accent3>
        <a:srgbClr val="5882E8"/>
      </a:accent3>
      <a:accent4>
        <a:srgbClr val="C9C3F2"/>
      </a:accent4>
      <a:accent5>
        <a:srgbClr val="0F42C0"/>
      </a:accent5>
      <a:accent6>
        <a:srgbClr val="F3F7C9"/>
      </a:accent6>
      <a:hlink>
        <a:srgbClr val="0563C1"/>
      </a:hlink>
      <a:folHlink>
        <a:srgbClr val="954F72"/>
      </a:folHlink>
    </a:clrScheme>
    <a:fontScheme name="커넥잡 발표 시안">
      <a:majorFont>
        <a:latin typeface="Black Ha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커넥잡 발표 시안</dc:title>
  <dc:subject/>
  <dc:creator/>
  <cp:lastModifiedBy/>
  <cp:revision>1</cp:revision>
  <dcterms:created xsi:type="dcterms:W3CDTF">2026-10-26T08:50:55Z</dcterms:created>
  <dcterms:modified xsi:type="dcterms:W3CDTF">2026-10-26T08:50:55Z</dcterms:modified>
</cp:coreProperties>
</file>